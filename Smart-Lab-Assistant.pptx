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231388a-9bb7-f15d-98f2-9a0b287c7e66}">
          <p14:sldIdLst>
            <p14:sldId id="256"/>
          </p14:sldIdLst>
        </p14:section>
        <p14:section name="Problem &amp; context" id="{3aef16f1-937d-6307-18fe-20308fdad012}">
          <p14:sldIdLst>
            <p14:sldId id="257"/>
            <p14:sldId id="258"/>
          </p14:sldIdLst>
        </p14:section>
        <p14:section name="Solution" id="{f95606d5-bccd-95b7-1e24-d595899e455f}">
          <p14:sldIdLst>
            <p14:sldId id="259"/>
          </p14:sldIdLst>
        </p14:section>
        <p14:section name="USP" id="{1c6e356c-ef5a-cb8f-483e-fb5ba67abcd6}">
          <p14:sldIdLst>
            <p14:sldId id="260"/>
            <p14:sldId id="261"/>
          </p14:sldIdLst>
        </p14:section>
        <p14:section name="Wrap-up" id="{1d01d35d-454e-1b37-0ce7-6c1f4c6f0f72}">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Lab Assistant gives pharma scientists conversational access to approved lab knowledge. Every answer is cited back to a document and page, and a self-checking RAG pipeline refuses to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pains: scattered knowledge, fast-but-unverifiable AI answers, and disconnected records. The need is verifiable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eLabFTW is a well-established open-source ELN. It excels at recording experiments and inventory. Out of the box it does not give cited conversational answers or protect against ungrounded AI output, which is the gap we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React client, FastAPI with role checks on every route, services that hold the ingest, retrieval, RAG and validation logic, and PostgreSQL with pgvector for all data. Gemini, PubChem and web search are external and only used under explicit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differentiator: after retrieval the model's draft is critiqued by a validator before anything is shown. The critic is deterministic and rule-based, inspired by Self-RAG's retrieve, relevance and support checks, so it needs no model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claim types shown are what the validator produces. Anything the validator cannot support is removed, hypotheses are labelled as not verified, and documents that disagree are shown as conflicting sources rather than reconciled.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takeaways. Test count and roles come from the repo README. Production roadmap items are the known limits listed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5A6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920240"/>
            <a:ext cx="5486400" cy="1737360"/>
          </a:xfrm>
          <a:prstGeom prst="rect">
            <a:avLst/>
          </a:prstGeom>
          <a:noFill/>
          <a:ln/>
        </p:spPr>
        <p:txBody>
          <a:bodyPr wrap="square" rtlCol="0"/>
          <a:lstStyle>
            <a:lvl1pPr algn="l" indent="0" marL="0">
              <a:buNone/>
              <a:defRPr lang="en-US" sz="5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END">
    <p:bg>
      <p:bgPr>
        <a:solidFill>
          <a:srgbClr val="0E5A6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640080"/>
            <a:ext cx="5669280" cy="155448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600" b="1" dirty="0">
                <a:solidFill>
                  <a:srgbClr val="10303A"/>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C737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C73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4.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4.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illustration" descr="Illustration of a scientist holding a flask beside a cited AI answer card">    </p:cNvPr>
          <p:cNvPicPr>
            <a:picLocks noChangeAspect="1"/>
          </p:cNvPicPr>
          <p:nvPr/>
        </p:nvPicPr>
        <p:blipFill>
          <a:blip r:embed="rId1"/>
          <a:stretch>
            <a:fillRect/>
          </a:stretch>
        </p:blipFill>
        <p:spPr>
          <a:xfrm>
            <a:off x="5989320" y="777240"/>
            <a:ext cx="6035040" cy="5367528"/>
          </a:xfrm>
          <a:prstGeom prst="rect">
            <a:avLst/>
          </a:prstGeom>
        </p:spPr>
      </p:pic>
      <p:sp>
        <p:nvSpPr>
          <p:cNvPr id="3" name="chip AI ENGINEER HACKATHON"/>
          <p:cNvSpPr txBox="1"/>
          <p:nvPr/>
        </p:nvSpPr>
        <p:spPr>
          <a:xfrm>
            <a:off x="640080" y="1097280"/>
            <a:ext cx="2651760" cy="365760"/>
          </a:xfrm>
          <a:prstGeom prst="roundRect">
            <a:avLst>
              <a:gd name="adj" fmla="val 50000"/>
            </a:avLst>
          </a:prstGeom>
          <a:solidFill>
            <a:srgbClr val="F26B50"/>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 ENGINEER HACKATHON</a:t>
            </a:r>
            <a:endParaRPr lang="en-US" sz="1200" dirty="0"/>
          </a:p>
        </p:txBody>
      </p:sp>
      <p:sp>
        <p:nvSpPr>
          <p:cNvPr id="4" name="Text 0"/>
          <p:cNvSpPr/>
          <p:nvPr>
            <p:ph idx="100" type="title" hasCustomPrompt="1"/>
          </p:nvPr>
        </p:nvSpPr>
        <p:spPr>
          <a:xfrm>
            <a:off x="640080" y="1920240"/>
            <a:ext cx="5486400" cy="1737360"/>
          </a:xfrm>
          <a:prstGeom prst="rect">
            <a:avLst/>
          </a:prstGeom>
          <a:noFill/>
          <a:ln/>
        </p:spPr>
        <p:txBody>
          <a:bodyPr wrap="square" lIns="0" tIns="0" rIns="0" bIns="0" rtlCol="0" anchor="t"/>
          <a:lstStyle/>
          <a:p>
            <a:pPr algn="l" indent="0" marL="0">
              <a:buNone/>
            </a:pPr>
            <a:r>
              <a:rPr lang="en-US" sz="5000" b="1" dirty="0">
                <a:solidFill>
                  <a:srgbClr val="FFFFFF"/>
                </a:solidFill>
                <a:latin typeface="Cambria" pitchFamily="34" charset="0"/>
                <a:ea typeface="Cambria" pitchFamily="34" charset="-122"/>
                <a:cs typeface="Cambria" pitchFamily="34" charset="-120"/>
              </a:rPr>
              <a:t>Smart Lab Assistant</a:t>
            </a:r>
            <a:endParaRPr lang="en-US" sz="5000" dirty="0"/>
          </a:p>
        </p:txBody>
      </p:sp>
      <p:sp>
        <p:nvSpPr>
          <p:cNvPr id="5" name="Text 2"/>
          <p:cNvSpPr txBox="1"/>
          <p:nvPr/>
        </p:nvSpPr>
        <p:spPr>
          <a:xfrm>
            <a:off x="640080" y="3794760"/>
            <a:ext cx="5120640" cy="1097280"/>
          </a:xfrm>
          <a:prstGeom prst="rect">
            <a:avLst/>
          </a:prstGeom>
          <a:noFill/>
          <a:ln/>
        </p:spPr>
        <p:txBody>
          <a:bodyPr wrap="square" lIns="0" tIns="0" rIns="0" bIns="0" rtlCol="0" anchor="t"/>
          <a:lstStyle/>
          <a:p>
            <a:pPr indent="0" marL="0">
              <a:buNone/>
            </a:pPr>
            <a:r>
              <a:rPr lang="en-US" sz="2000" dirty="0">
                <a:solidFill>
                  <a:srgbClr val="BFE6D8"/>
                </a:solidFill>
                <a:latin typeface="Calibri" pitchFamily="34" charset="0"/>
                <a:ea typeface="Calibri" pitchFamily="34" charset="-122"/>
                <a:cs typeface="Calibri" pitchFamily="34" charset="-120"/>
              </a:rPr>
              <a:t>Cited, verifiable answers from approved lab knowledge, with a self-checking RAG that refuses to guess.</a:t>
            </a:r>
            <a:endParaRPr lang="en-US" sz="2000" dirty="0"/>
          </a:p>
        </p:txBody>
      </p:sp>
      <p:sp>
        <p:nvSpPr>
          <p:cNvPr id="6" name="Text 3"/>
          <p:cNvSpPr txBox="1"/>
          <p:nvPr/>
        </p:nvSpPr>
        <p:spPr>
          <a:xfrm>
            <a:off x="640080" y="5806440"/>
            <a:ext cx="5486400" cy="3200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SOP search  ·  Research projects  ·  Reagent inventory  ·  Audit trail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10303A"/>
                </a:solidFill>
                <a:latin typeface="Cambria" pitchFamily="34" charset="0"/>
                <a:ea typeface="Cambria" pitchFamily="34" charset="-122"/>
                <a:cs typeface="Cambria" pitchFamily="34" charset="-120"/>
              </a:rPr>
              <a:t>Problem statement</a:t>
            </a:r>
            <a:endParaRPr lang="en-US" sz="3600" dirty="0"/>
          </a:p>
        </p:txBody>
      </p:sp>
      <p:pic>
        <p:nvPicPr>
          <p:cNvPr id="3" name="hero illustration" descr="Overwhelmed scientist surrounded by outdated documents and question marks">    </p:cNvPr>
          <p:cNvPicPr>
            <a:picLocks noChangeAspect="1"/>
          </p:cNvPicPr>
          <p:nvPr/>
        </p:nvPicPr>
        <p:blipFill>
          <a:blip r:embed="rId1"/>
          <a:stretch>
            <a:fillRect/>
          </a:stretch>
        </p:blipFill>
        <p:spPr>
          <a:xfrm>
            <a:off x="457200" y="1325880"/>
            <a:ext cx="5212080" cy="4636008"/>
          </a:xfrm>
          <a:prstGeom prst="rect">
            <a:avLst/>
          </a:prstGeom>
        </p:spPr>
      </p:pic>
      <p:sp>
        <p:nvSpPr>
          <p:cNvPr id="4" name="problem card 1"/>
          <p:cNvSpPr/>
          <p:nvPr/>
        </p:nvSpPr>
        <p:spPr>
          <a:xfrm>
            <a:off x="6035040" y="1371600"/>
            <a:ext cx="5623560" cy="1298448"/>
          </a:xfrm>
          <a:prstGeom prst="roundRect">
            <a:avLst>
              <a:gd name="adj" fmla="val 12676"/>
            </a:avLst>
          </a:prstGeom>
          <a:solidFill>
            <a:srgbClr val="FFFFFF"/>
          </a:solidFill>
          <a:ln w="12700">
            <a:solidFill>
              <a:srgbClr val="FFFFFF"/>
            </a:solidFill>
            <a:prstDash val="solid"/>
          </a:ln>
          <a:effectLst>
            <a:outerShdw sx="100000" sy="100000" kx="0" ky="0" algn="bl" rotWithShape="0" blurRad="127000" dist="38100" dir="5400000">
              <a:srgbClr val="10303A">
                <a:alpha val="14000"/>
              </a:srgbClr>
            </a:outerShdw>
          </a:effectLst>
        </p:spPr>
      </p:sp>
      <p:sp>
        <p:nvSpPr>
          <p:cNvPr id="5" name="Knowledge is scattered badge"/>
          <p:cNvSpPr/>
          <p:nvPr/>
        </p:nvSpPr>
        <p:spPr>
          <a:xfrm>
            <a:off x="6263640" y="1655064"/>
            <a:ext cx="731520" cy="731520"/>
          </a:xfrm>
          <a:prstGeom prst="ellipse">
            <a:avLst/>
          </a:prstGeom>
          <a:solidFill>
            <a:srgbClr val="E8F5F0"/>
          </a:solidFill>
          <a:ln w="12700">
            <a:solidFill>
              <a:srgbClr val="E8F5F0"/>
            </a:solidFill>
            <a:prstDash val="solid"/>
          </a:ln>
        </p:spPr>
      </p:sp>
      <p:pic>
        <p:nvPicPr>
          <p:cNvPr id="6" name="Knowledge is scattered" descr="Knowledge is scattered">    </p:cNvPr>
          <p:cNvPicPr>
            <a:picLocks noChangeAspect="1"/>
          </p:cNvPicPr>
          <p:nvPr/>
        </p:nvPicPr>
        <p:blipFill>
          <a:blip r:embed="rId2"/>
          <a:stretch>
            <a:fillRect/>
          </a:stretch>
        </p:blipFill>
        <p:spPr>
          <a:xfrm>
            <a:off x="6446520" y="1837944"/>
            <a:ext cx="365760" cy="365760"/>
          </a:xfrm>
          <a:prstGeom prst="rect">
            <a:avLst/>
          </a:prstGeom>
        </p:spPr>
      </p:pic>
      <p:sp>
        <p:nvSpPr>
          <p:cNvPr id="7" name="Text 3"/>
          <p:cNvSpPr txBox="1"/>
          <p:nvPr/>
        </p:nvSpPr>
        <p:spPr>
          <a:xfrm>
            <a:off x="7223760" y="1554480"/>
            <a:ext cx="4297680" cy="365760"/>
          </a:xfrm>
          <a:prstGeom prst="rect">
            <a:avLst/>
          </a:prstGeom>
          <a:noFill/>
          <a:ln/>
        </p:spPr>
        <p:txBody>
          <a:bodyPr wrap="square" lIns="0" tIns="0" rIns="0" bIns="0" rtlCol="0" anchor="t"/>
          <a:lstStyle/>
          <a:p>
            <a:pPr indent="0" marL="0">
              <a:buNone/>
            </a:pPr>
            <a:r>
              <a:rPr lang="en-US" sz="2000" b="1" dirty="0">
                <a:solidFill>
                  <a:srgbClr val="10303A"/>
                </a:solidFill>
                <a:latin typeface="Cambria" pitchFamily="34" charset="0"/>
                <a:ea typeface="Cambria" pitchFamily="34" charset="-122"/>
                <a:cs typeface="Cambria" pitchFamily="34" charset="-120"/>
              </a:rPr>
              <a:t>Knowledge is scattered</a:t>
            </a:r>
            <a:endParaRPr lang="en-US" sz="2000" dirty="0"/>
          </a:p>
        </p:txBody>
      </p:sp>
      <p:sp>
        <p:nvSpPr>
          <p:cNvPr id="8" name="Text 4"/>
          <p:cNvSpPr txBox="1"/>
          <p:nvPr/>
        </p:nvSpPr>
        <p:spPr>
          <a:xfrm>
            <a:off x="7223760" y="1938528"/>
            <a:ext cx="4297680" cy="658368"/>
          </a:xfrm>
          <a:prstGeom prst="rect">
            <a:avLst/>
          </a:prstGeom>
          <a:noFill/>
          <a:ln/>
        </p:spPr>
        <p:txBody>
          <a:bodyPr wrap="square" lIns="0" tIns="0" rIns="0" bIns="0" rtlCol="0" anchor="t"/>
          <a:lstStyle/>
          <a:p>
            <a:pPr indent="0" marL="0">
              <a:buNone/>
            </a:pPr>
            <a:r>
              <a:rPr lang="en-US" sz="1400" dirty="0">
                <a:solidFill>
                  <a:srgbClr val="5C7378"/>
                </a:solidFill>
                <a:latin typeface="Calibri" pitchFamily="34" charset="0"/>
                <a:ea typeface="Calibri" pitchFamily="34" charset="-122"/>
                <a:cs typeface="Calibri" pitchFamily="34" charset="-120"/>
              </a:rPr>
              <a:t>SOPs live in PDFs, shared drives and inboxes. Versions drift and nobody is sure which one is approved.</a:t>
            </a:r>
            <a:endParaRPr lang="en-US" sz="1400" dirty="0"/>
          </a:p>
        </p:txBody>
      </p:sp>
      <p:sp>
        <p:nvSpPr>
          <p:cNvPr id="9" name="problem card 2"/>
          <p:cNvSpPr/>
          <p:nvPr/>
        </p:nvSpPr>
        <p:spPr>
          <a:xfrm>
            <a:off x="6035040" y="2852928"/>
            <a:ext cx="5623560" cy="1298448"/>
          </a:xfrm>
          <a:prstGeom prst="roundRect">
            <a:avLst>
              <a:gd name="adj" fmla="val 12676"/>
            </a:avLst>
          </a:prstGeom>
          <a:solidFill>
            <a:srgbClr val="FFFFFF"/>
          </a:solidFill>
          <a:ln w="12700">
            <a:solidFill>
              <a:srgbClr val="FFFFFF"/>
            </a:solidFill>
            <a:prstDash val="solid"/>
          </a:ln>
          <a:effectLst>
            <a:outerShdw sx="100000" sy="100000" kx="0" ky="0" algn="bl" rotWithShape="0" blurRad="127000" dist="38100" dir="5400000">
              <a:srgbClr val="10303A">
                <a:alpha val="14000"/>
              </a:srgbClr>
            </a:outerShdw>
          </a:effectLst>
        </p:spPr>
      </p:sp>
      <p:sp>
        <p:nvSpPr>
          <p:cNvPr id="10" name="Fast answers, no proof badge"/>
          <p:cNvSpPr/>
          <p:nvPr/>
        </p:nvSpPr>
        <p:spPr>
          <a:xfrm>
            <a:off x="6263640" y="3136392"/>
            <a:ext cx="731520" cy="731520"/>
          </a:xfrm>
          <a:prstGeom prst="ellipse">
            <a:avLst/>
          </a:prstGeom>
          <a:solidFill>
            <a:srgbClr val="FFD9CF"/>
          </a:solidFill>
          <a:ln w="12700">
            <a:solidFill>
              <a:srgbClr val="FFD9CF"/>
            </a:solidFill>
            <a:prstDash val="solid"/>
          </a:ln>
        </p:spPr>
      </p:sp>
      <p:pic>
        <p:nvPicPr>
          <p:cNvPr id="11" name="Fast answers, no proof" descr="Fast answers, no proof">    </p:cNvPr>
          <p:cNvPicPr>
            <a:picLocks noChangeAspect="1"/>
          </p:cNvPicPr>
          <p:nvPr/>
        </p:nvPicPr>
        <p:blipFill>
          <a:blip r:embed="rId3"/>
          <a:stretch>
            <a:fillRect/>
          </a:stretch>
        </p:blipFill>
        <p:spPr>
          <a:xfrm>
            <a:off x="6446520" y="3319272"/>
            <a:ext cx="365760" cy="365760"/>
          </a:xfrm>
          <a:prstGeom prst="rect">
            <a:avLst/>
          </a:prstGeom>
        </p:spPr>
      </p:pic>
      <p:sp>
        <p:nvSpPr>
          <p:cNvPr id="12" name="Text 7"/>
          <p:cNvSpPr txBox="1"/>
          <p:nvPr/>
        </p:nvSpPr>
        <p:spPr>
          <a:xfrm>
            <a:off x="7223760" y="3035808"/>
            <a:ext cx="4297680" cy="365760"/>
          </a:xfrm>
          <a:prstGeom prst="rect">
            <a:avLst/>
          </a:prstGeom>
          <a:noFill/>
          <a:ln/>
        </p:spPr>
        <p:txBody>
          <a:bodyPr wrap="square" lIns="0" tIns="0" rIns="0" bIns="0" rtlCol="0" anchor="t"/>
          <a:lstStyle/>
          <a:p>
            <a:pPr indent="0" marL="0">
              <a:buNone/>
            </a:pPr>
            <a:r>
              <a:rPr lang="en-US" sz="2000" b="1" dirty="0">
                <a:solidFill>
                  <a:srgbClr val="10303A"/>
                </a:solidFill>
                <a:latin typeface="Cambria" pitchFamily="34" charset="0"/>
                <a:ea typeface="Cambria" pitchFamily="34" charset="-122"/>
                <a:cs typeface="Cambria" pitchFamily="34" charset="-120"/>
              </a:rPr>
              <a:t>Fast answers, no proof</a:t>
            </a:r>
            <a:endParaRPr lang="en-US" sz="2000" dirty="0"/>
          </a:p>
        </p:txBody>
      </p:sp>
      <p:sp>
        <p:nvSpPr>
          <p:cNvPr id="13" name="Text 8"/>
          <p:cNvSpPr txBox="1"/>
          <p:nvPr/>
        </p:nvSpPr>
        <p:spPr>
          <a:xfrm>
            <a:off x="7223760" y="3419856"/>
            <a:ext cx="4297680" cy="658368"/>
          </a:xfrm>
          <a:prstGeom prst="rect">
            <a:avLst/>
          </a:prstGeom>
          <a:noFill/>
          <a:ln/>
        </p:spPr>
        <p:txBody>
          <a:bodyPr wrap="square" lIns="0" tIns="0" rIns="0" bIns="0" rtlCol="0" anchor="t"/>
          <a:lstStyle/>
          <a:p>
            <a:pPr indent="0" marL="0">
              <a:buNone/>
            </a:pPr>
            <a:r>
              <a:rPr lang="en-US" sz="1400" dirty="0">
                <a:solidFill>
                  <a:srgbClr val="5C7378"/>
                </a:solidFill>
                <a:latin typeface="Calibri" pitchFamily="34" charset="0"/>
                <a:ea typeface="Calibri" pitchFamily="34" charset="-122"/>
                <a:cs typeface="Calibri" pitchFamily="34" charset="-120"/>
              </a:rPr>
              <a:t>Generic chatbots hallucinate. A wrong pH or volume can ruin a run, and there is no source to check.</a:t>
            </a:r>
            <a:endParaRPr lang="en-US" sz="1400" dirty="0"/>
          </a:p>
        </p:txBody>
      </p:sp>
      <p:sp>
        <p:nvSpPr>
          <p:cNvPr id="14" name="problem card 3"/>
          <p:cNvSpPr/>
          <p:nvPr/>
        </p:nvSpPr>
        <p:spPr>
          <a:xfrm>
            <a:off x="6035040" y="4334256"/>
            <a:ext cx="5623560" cy="1298448"/>
          </a:xfrm>
          <a:prstGeom prst="roundRect">
            <a:avLst>
              <a:gd name="adj" fmla="val 12676"/>
            </a:avLst>
          </a:prstGeom>
          <a:solidFill>
            <a:srgbClr val="FFFFFF"/>
          </a:solidFill>
          <a:ln w="12700">
            <a:solidFill>
              <a:srgbClr val="FFFFFF"/>
            </a:solidFill>
            <a:prstDash val="solid"/>
          </a:ln>
          <a:effectLst>
            <a:outerShdw sx="100000" sy="100000" kx="0" ky="0" algn="bl" rotWithShape="0" blurRad="127000" dist="38100" dir="5400000">
              <a:srgbClr val="10303A">
                <a:alpha val="14000"/>
              </a:srgbClr>
            </a:outerShdw>
          </a:effectLst>
        </p:spPr>
      </p:sp>
      <p:sp>
        <p:nvSpPr>
          <p:cNvPr id="15" name="Records are disconnected badge"/>
          <p:cNvSpPr/>
          <p:nvPr/>
        </p:nvSpPr>
        <p:spPr>
          <a:xfrm>
            <a:off x="6263640" y="4617720"/>
            <a:ext cx="731520" cy="731520"/>
          </a:xfrm>
          <a:prstGeom prst="ellipse">
            <a:avLst/>
          </a:prstGeom>
          <a:solidFill>
            <a:srgbClr val="E6DFFB"/>
          </a:solidFill>
          <a:ln w="12700">
            <a:solidFill>
              <a:srgbClr val="E6DFFB"/>
            </a:solidFill>
            <a:prstDash val="solid"/>
          </a:ln>
        </p:spPr>
      </p:sp>
      <p:pic>
        <p:nvPicPr>
          <p:cNvPr id="16" name="Records are disconnected" descr="Records are disconnected">    </p:cNvPr>
          <p:cNvPicPr>
            <a:picLocks noChangeAspect="1"/>
          </p:cNvPicPr>
          <p:nvPr/>
        </p:nvPicPr>
        <p:blipFill>
          <a:blip r:embed="rId4"/>
          <a:stretch>
            <a:fillRect/>
          </a:stretch>
        </p:blipFill>
        <p:spPr>
          <a:xfrm>
            <a:off x="6446520" y="4800600"/>
            <a:ext cx="365760" cy="365760"/>
          </a:xfrm>
          <a:prstGeom prst="rect">
            <a:avLst/>
          </a:prstGeom>
        </p:spPr>
      </p:pic>
      <p:sp>
        <p:nvSpPr>
          <p:cNvPr id="17" name="Text 11"/>
          <p:cNvSpPr txBox="1"/>
          <p:nvPr/>
        </p:nvSpPr>
        <p:spPr>
          <a:xfrm>
            <a:off x="7223760" y="4517136"/>
            <a:ext cx="4297680" cy="365760"/>
          </a:xfrm>
          <a:prstGeom prst="rect">
            <a:avLst/>
          </a:prstGeom>
          <a:noFill/>
          <a:ln/>
        </p:spPr>
        <p:txBody>
          <a:bodyPr wrap="square" lIns="0" tIns="0" rIns="0" bIns="0" rtlCol="0" anchor="t"/>
          <a:lstStyle/>
          <a:p>
            <a:pPr indent="0" marL="0">
              <a:buNone/>
            </a:pPr>
            <a:r>
              <a:rPr lang="en-US" sz="2000" b="1" dirty="0">
                <a:solidFill>
                  <a:srgbClr val="10303A"/>
                </a:solidFill>
                <a:latin typeface="Cambria" pitchFamily="34" charset="0"/>
                <a:ea typeface="Cambria" pitchFamily="34" charset="-122"/>
                <a:cs typeface="Cambria" pitchFamily="34" charset="-120"/>
              </a:rPr>
              <a:t>Records are disconnected</a:t>
            </a:r>
            <a:endParaRPr lang="en-US" sz="2000" dirty="0"/>
          </a:p>
        </p:txBody>
      </p:sp>
      <p:sp>
        <p:nvSpPr>
          <p:cNvPr id="18" name="Text 12"/>
          <p:cNvSpPr txBox="1"/>
          <p:nvPr/>
        </p:nvSpPr>
        <p:spPr>
          <a:xfrm>
            <a:off x="7223760" y="4901184"/>
            <a:ext cx="4297680" cy="658368"/>
          </a:xfrm>
          <a:prstGeom prst="rect">
            <a:avLst/>
          </a:prstGeom>
          <a:noFill/>
          <a:ln/>
        </p:spPr>
        <p:txBody>
          <a:bodyPr wrap="square" lIns="0" tIns="0" rIns="0" bIns="0" rtlCol="0" anchor="t"/>
          <a:lstStyle/>
          <a:p>
            <a:pPr indent="0" marL="0">
              <a:buNone/>
            </a:pPr>
            <a:r>
              <a:rPr lang="en-US" sz="1400" dirty="0">
                <a:solidFill>
                  <a:srgbClr val="5C7378"/>
                </a:solidFill>
                <a:latin typeface="Calibri" pitchFamily="34" charset="0"/>
                <a:ea typeface="Calibri" pitchFamily="34" charset="-122"/>
                <a:cs typeface="Calibri" pitchFamily="34" charset="-120"/>
              </a:rPr>
              <a:t>Experiments, reagent stock and requests sit in separate tools, with no tamper-evident trail.</a:t>
            </a:r>
            <a:endParaRPr lang="en-US" sz="1400" dirty="0"/>
          </a:p>
        </p:txBody>
      </p:sp>
      <p:sp>
        <p:nvSpPr>
          <p:cNvPr id="19" name="problem takeaway"/>
          <p:cNvSpPr txBox="1"/>
          <p:nvPr/>
        </p:nvSpPr>
        <p:spPr>
          <a:xfrm>
            <a:off x="6035040" y="5870448"/>
            <a:ext cx="5623560" cy="457200"/>
          </a:xfrm>
          <a:prstGeom prst="roundRect">
            <a:avLst>
              <a:gd name="adj" fmla="val 50000"/>
            </a:avLst>
          </a:prstGeom>
          <a:solidFill>
            <a:srgbClr val="10303A"/>
          </a:solidFill>
          <a:ln/>
        </p:spPr>
        <p:txBody>
          <a:bodyPr wrap="square" lIns="0" tIns="0" rIns="0" bIns="0" rtlCol="0" anchor="ctr"/>
          <a:lstStyle/>
          <a:p>
            <a:pPr algn="ctr" indent="0" marL="0">
              <a:buNone/>
            </a:pPr>
            <a:r>
              <a:rPr lang="en-US" sz="1600" i="1" dirty="0">
                <a:solidFill>
                  <a:srgbClr val="FFFFFF"/>
                </a:solidFill>
                <a:latin typeface="Cambria" pitchFamily="34" charset="0"/>
                <a:ea typeface="Cambria" pitchFamily="34" charset="-122"/>
                <a:cs typeface="Cambria" pitchFamily="34" charset="-120"/>
              </a:rPr>
              <a:t>Scientists need answers they can verify, not just answers.</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C73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10303A"/>
                </a:solidFill>
                <a:latin typeface="Cambria" pitchFamily="34" charset="0"/>
                <a:ea typeface="Cambria" pitchFamily="34" charset="-122"/>
                <a:cs typeface="Cambria" pitchFamily="34" charset="-120"/>
              </a:rPr>
              <a:t>Existing software: eLabFTW</a:t>
            </a:r>
            <a:endParaRPr lang="en-US" sz="3600" dirty="0"/>
          </a:p>
        </p:txBody>
      </p:sp>
      <p:pic>
        <p:nvPicPr>
          <p:cNvPr id="3" name="hero illustration" descr="Laptop showing an electronic lab notebook with stacked notebooks">    </p:cNvPr>
          <p:cNvPicPr>
            <a:picLocks noChangeAspect="1"/>
          </p:cNvPicPr>
          <p:nvPr/>
        </p:nvPicPr>
        <p:blipFill>
          <a:blip r:embed="rId1"/>
          <a:stretch>
            <a:fillRect/>
          </a:stretch>
        </p:blipFill>
        <p:spPr>
          <a:xfrm>
            <a:off x="411480" y="1280160"/>
            <a:ext cx="4480560" cy="3986784"/>
          </a:xfrm>
          <a:prstGeom prst="rect">
            <a:avLst/>
          </a:prstGeom>
        </p:spPr>
      </p:pic>
      <p:sp>
        <p:nvSpPr>
          <p:cNvPr id="4" name="Text 1"/>
          <p:cNvSpPr txBox="1"/>
          <p:nvPr/>
        </p:nvSpPr>
        <p:spPr>
          <a:xfrm>
            <a:off x="548640" y="5349240"/>
            <a:ext cx="4297680" cy="685800"/>
          </a:xfrm>
          <a:prstGeom prst="rect">
            <a:avLst/>
          </a:prstGeom>
          <a:noFill/>
          <a:ln/>
        </p:spPr>
        <p:txBody>
          <a:bodyPr wrap="square" lIns="0" tIns="0" rIns="0" bIns="0" rtlCol="0" anchor="t"/>
          <a:lstStyle/>
          <a:p>
            <a:pPr indent="0" marL="0">
              <a:buNone/>
            </a:pPr>
            <a:r>
              <a:rPr lang="en-US" sz="1400" i="1" dirty="0">
                <a:solidFill>
                  <a:srgbClr val="5C7378"/>
                </a:solidFill>
                <a:latin typeface="Calibri" pitchFamily="34" charset="0"/>
                <a:ea typeface="Calibri" pitchFamily="34" charset="-122"/>
                <a:cs typeface="Calibri" pitchFamily="34" charset="-120"/>
              </a:rPr>
              <a:t>Open-source electronic lab notebook (ELN) with a built-in resources database.</a:t>
            </a:r>
            <a:endParaRPr lang="en-US" sz="1400" dirty="0"/>
          </a:p>
        </p:txBody>
      </p:sp>
      <p:sp>
        <p:nvSpPr>
          <p:cNvPr id="5" name="column What it does well"/>
          <p:cNvSpPr/>
          <p:nvPr/>
        </p:nvSpPr>
        <p:spPr>
          <a:xfrm>
            <a:off x="5166360" y="1325880"/>
            <a:ext cx="3108960" cy="4343400"/>
          </a:xfrm>
          <a:prstGeom prst="roundRect">
            <a:avLst>
              <a:gd name="adj" fmla="val 5294"/>
            </a:avLst>
          </a:prstGeom>
          <a:solidFill>
            <a:srgbClr val="F3FAF7"/>
          </a:solidFill>
          <a:ln w="12700">
            <a:solidFill>
              <a:srgbClr val="F3FAF7"/>
            </a:solidFill>
            <a:prstDash val="solid"/>
          </a:ln>
        </p:spPr>
      </p:sp>
      <p:sp>
        <p:nvSpPr>
          <p:cNvPr id="6" name="What it does well badge"/>
          <p:cNvSpPr/>
          <p:nvPr/>
        </p:nvSpPr>
        <p:spPr>
          <a:xfrm>
            <a:off x="5394960" y="1508760"/>
            <a:ext cx="502920" cy="502920"/>
          </a:xfrm>
          <a:prstGeom prst="ellipse">
            <a:avLst/>
          </a:prstGeom>
          <a:solidFill>
            <a:srgbClr val="E8F5F0"/>
          </a:solidFill>
          <a:ln w="12700">
            <a:solidFill>
              <a:srgbClr val="E8F5F0"/>
            </a:solidFill>
            <a:prstDash val="solid"/>
          </a:ln>
        </p:spPr>
      </p:sp>
      <p:pic>
        <p:nvPicPr>
          <p:cNvPr id="7" name="What it does well" descr="What it does well">    </p:cNvPr>
          <p:cNvPicPr>
            <a:picLocks noChangeAspect="1"/>
          </p:cNvPicPr>
          <p:nvPr/>
        </p:nvPicPr>
        <p:blipFill>
          <a:blip r:embed="rId2"/>
          <a:stretch>
            <a:fillRect/>
          </a:stretch>
        </p:blipFill>
        <p:spPr>
          <a:xfrm>
            <a:off x="5520690" y="1634490"/>
            <a:ext cx="251460" cy="251460"/>
          </a:xfrm>
          <a:prstGeom prst="rect">
            <a:avLst/>
          </a:prstGeom>
        </p:spPr>
      </p:pic>
      <p:sp>
        <p:nvSpPr>
          <p:cNvPr id="8" name="Text 4"/>
          <p:cNvSpPr txBox="1"/>
          <p:nvPr/>
        </p:nvSpPr>
        <p:spPr>
          <a:xfrm>
            <a:off x="6035040" y="1554480"/>
            <a:ext cx="2148840" cy="411480"/>
          </a:xfrm>
          <a:prstGeom prst="rect">
            <a:avLst/>
          </a:prstGeom>
          <a:noFill/>
          <a:ln/>
        </p:spPr>
        <p:txBody>
          <a:bodyPr wrap="square" lIns="0" tIns="0" rIns="0" bIns="0" rtlCol="0" anchor="ctr"/>
          <a:lstStyle/>
          <a:p>
            <a:pPr indent="0" marL="0">
              <a:buNone/>
            </a:pPr>
            <a:r>
              <a:rPr lang="en-US" sz="2000" b="1" dirty="0">
                <a:solidFill>
                  <a:srgbClr val="10303A"/>
                </a:solidFill>
                <a:latin typeface="Cambria" pitchFamily="34" charset="0"/>
                <a:ea typeface="Cambria" pitchFamily="34" charset="-122"/>
                <a:cs typeface="Cambria" pitchFamily="34" charset="-120"/>
              </a:rPr>
              <a:t>What it does well</a:t>
            </a:r>
            <a:endParaRPr lang="en-US" sz="2000" dirty="0"/>
          </a:p>
        </p:txBody>
      </p:sp>
      <p:sp>
        <p:nvSpPr>
          <p:cNvPr id="9" name="Text 5"/>
          <p:cNvSpPr txBox="1"/>
          <p:nvPr/>
        </p:nvSpPr>
        <p:spPr>
          <a:xfrm>
            <a:off x="5440680" y="2286000"/>
            <a:ext cx="2651760" cy="3291840"/>
          </a:xfrm>
          <a:prstGeom prst="rect">
            <a:avLst/>
          </a:prstGeom>
          <a:noFill/>
          <a:ln/>
        </p:spPr>
        <p:txBody>
          <a:bodyPr wrap="square" lIns="0" tIns="0" rIns="0" bIns="0" rtlCol="0" anchor="t"/>
          <a:lstStyle/>
          <a:p>
            <a:pPr marL="203200" indent="-203200">
              <a:spcAft>
                <a:spcPts val="1600"/>
              </a:spcAft>
              <a:buSzPct val="100000"/>
              <a:buChar char="•"/>
            </a:pPr>
            <a:r>
              <a:rPr lang="en-US" sz="1500" dirty="0">
                <a:solidFill>
                  <a:srgbClr val="10303A"/>
                </a:solidFill>
                <a:latin typeface="Calibri" pitchFamily="34" charset="0"/>
                <a:ea typeface="Calibri" pitchFamily="34" charset="-122"/>
                <a:cs typeface="Calibri" pitchFamily="34" charset="-120"/>
              </a:rPr>
              <a:t>Structured experiment records</a:t>
            </a:r>
            <a:endParaRPr lang="en-US" sz="1500" dirty="0"/>
          </a:p>
          <a:p>
            <a:pPr marL="203200" indent="-203200">
              <a:spcAft>
                <a:spcPts val="1600"/>
              </a:spcAft>
              <a:buSzPct val="100000"/>
              <a:buChar char="•"/>
            </a:pPr>
            <a:r>
              <a:rPr lang="en-US" sz="1500" dirty="0">
                <a:solidFill>
                  <a:srgbClr val="10303A"/>
                </a:solidFill>
                <a:latin typeface="Calibri" pitchFamily="34" charset="0"/>
                <a:ea typeface="Calibri" pitchFamily="34" charset="-122"/>
                <a:cs typeface="Calibri" pitchFamily="34" charset="-120"/>
              </a:rPr>
              <a:t>Resources and inventory database</a:t>
            </a:r>
            <a:endParaRPr lang="en-US" sz="1500" dirty="0"/>
          </a:p>
          <a:p>
            <a:pPr marL="203200" indent="-203200">
              <a:spcAft>
                <a:spcPts val="1600"/>
              </a:spcAft>
              <a:buSzPct val="100000"/>
              <a:buChar char="•"/>
            </a:pPr>
            <a:r>
              <a:rPr lang="en-US" sz="1500" dirty="0">
                <a:solidFill>
                  <a:srgbClr val="10303A"/>
                </a:solidFill>
                <a:latin typeface="Calibri" pitchFamily="34" charset="0"/>
                <a:ea typeface="Calibri" pitchFamily="34" charset="-122"/>
                <a:cs typeface="Calibri" pitchFamily="34" charset="-120"/>
              </a:rPr>
              <a:t>Trusted timestamps and signatures</a:t>
            </a:r>
            <a:endParaRPr lang="en-US" sz="1500" dirty="0"/>
          </a:p>
          <a:p>
            <a:pPr marL="203200" indent="-203200">
              <a:spcAft>
                <a:spcPts val="1600"/>
              </a:spcAft>
              <a:buSzPct val="100000"/>
              <a:buChar char="•"/>
            </a:pPr>
            <a:r>
              <a:rPr lang="en-US" sz="1500" dirty="0">
                <a:solidFill>
                  <a:srgbClr val="10303A"/>
                </a:solidFill>
                <a:latin typeface="Calibri" pitchFamily="34" charset="0"/>
                <a:ea typeface="Calibri" pitchFamily="34" charset="-122"/>
                <a:cs typeface="Calibri" pitchFamily="34" charset="-120"/>
              </a:rPr>
              <a:t>Templates, teams and permissions</a:t>
            </a:r>
            <a:endParaRPr lang="en-US" sz="1500" dirty="0"/>
          </a:p>
          <a:p>
            <a:pPr marL="203200" indent="-203200">
              <a:spcAft>
                <a:spcPts val="1600"/>
              </a:spcAft>
              <a:buSzPct val="100000"/>
              <a:buChar char="•"/>
            </a:pPr>
            <a:r>
              <a:rPr lang="en-US" sz="1500" dirty="0">
                <a:solidFill>
                  <a:srgbClr val="10303A"/>
                </a:solidFill>
                <a:latin typeface="Calibri" pitchFamily="34" charset="0"/>
                <a:ea typeface="Calibri" pitchFamily="34" charset="-122"/>
                <a:cs typeface="Calibri" pitchFamily="34" charset="-120"/>
              </a:rPr>
              <a:t>Export and REST API</a:t>
            </a:r>
            <a:endParaRPr lang="en-US" sz="1500" dirty="0"/>
          </a:p>
        </p:txBody>
      </p:sp>
      <p:sp>
        <p:nvSpPr>
          <p:cNvPr id="10" name="column Where it stops"/>
          <p:cNvSpPr/>
          <p:nvPr/>
        </p:nvSpPr>
        <p:spPr>
          <a:xfrm>
            <a:off x="8458200" y="1325880"/>
            <a:ext cx="3108960" cy="4343400"/>
          </a:xfrm>
          <a:prstGeom prst="roundRect">
            <a:avLst>
              <a:gd name="adj" fmla="val 5294"/>
            </a:avLst>
          </a:prstGeom>
          <a:solidFill>
            <a:srgbClr val="FFF6F3"/>
          </a:solidFill>
          <a:ln w="12700">
            <a:solidFill>
              <a:srgbClr val="FFF6F3"/>
            </a:solidFill>
            <a:prstDash val="solid"/>
          </a:ln>
        </p:spPr>
      </p:sp>
      <p:sp>
        <p:nvSpPr>
          <p:cNvPr id="11" name="Where it stops badge"/>
          <p:cNvSpPr/>
          <p:nvPr/>
        </p:nvSpPr>
        <p:spPr>
          <a:xfrm>
            <a:off x="8686800" y="1508760"/>
            <a:ext cx="502920" cy="502920"/>
          </a:xfrm>
          <a:prstGeom prst="ellipse">
            <a:avLst/>
          </a:prstGeom>
          <a:solidFill>
            <a:srgbClr val="FFD9CF"/>
          </a:solidFill>
          <a:ln w="12700">
            <a:solidFill>
              <a:srgbClr val="FFD9CF"/>
            </a:solidFill>
            <a:prstDash val="solid"/>
          </a:ln>
        </p:spPr>
      </p:sp>
      <p:pic>
        <p:nvPicPr>
          <p:cNvPr id="12" name="Where it stops" descr="Where it stops">    </p:cNvPr>
          <p:cNvPicPr>
            <a:picLocks noChangeAspect="1"/>
          </p:cNvPicPr>
          <p:nvPr/>
        </p:nvPicPr>
        <p:blipFill>
          <a:blip r:embed="rId3"/>
          <a:stretch>
            <a:fillRect/>
          </a:stretch>
        </p:blipFill>
        <p:spPr>
          <a:xfrm>
            <a:off x="8812530" y="1634490"/>
            <a:ext cx="251460" cy="251460"/>
          </a:xfrm>
          <a:prstGeom prst="rect">
            <a:avLst/>
          </a:prstGeom>
        </p:spPr>
      </p:pic>
      <p:sp>
        <p:nvSpPr>
          <p:cNvPr id="13" name="Text 8"/>
          <p:cNvSpPr txBox="1"/>
          <p:nvPr/>
        </p:nvSpPr>
        <p:spPr>
          <a:xfrm>
            <a:off x="9326880" y="1554480"/>
            <a:ext cx="2148840" cy="411480"/>
          </a:xfrm>
          <a:prstGeom prst="rect">
            <a:avLst/>
          </a:prstGeom>
          <a:noFill/>
          <a:ln/>
        </p:spPr>
        <p:txBody>
          <a:bodyPr wrap="square" lIns="0" tIns="0" rIns="0" bIns="0" rtlCol="0" anchor="ctr"/>
          <a:lstStyle/>
          <a:p>
            <a:pPr indent="0" marL="0">
              <a:buNone/>
            </a:pPr>
            <a:r>
              <a:rPr lang="en-US" sz="2000" b="1" dirty="0">
                <a:solidFill>
                  <a:srgbClr val="10303A"/>
                </a:solidFill>
                <a:latin typeface="Cambria" pitchFamily="34" charset="0"/>
                <a:ea typeface="Cambria" pitchFamily="34" charset="-122"/>
                <a:cs typeface="Cambria" pitchFamily="34" charset="-120"/>
              </a:rPr>
              <a:t>Where it stops</a:t>
            </a:r>
            <a:endParaRPr lang="en-US" sz="2000" dirty="0"/>
          </a:p>
        </p:txBody>
      </p:sp>
      <p:sp>
        <p:nvSpPr>
          <p:cNvPr id="14" name="Text 9"/>
          <p:cNvSpPr txBox="1"/>
          <p:nvPr/>
        </p:nvSpPr>
        <p:spPr>
          <a:xfrm>
            <a:off x="8732520" y="2286000"/>
            <a:ext cx="2651760" cy="3291840"/>
          </a:xfrm>
          <a:prstGeom prst="rect">
            <a:avLst/>
          </a:prstGeom>
          <a:noFill/>
          <a:ln/>
        </p:spPr>
        <p:txBody>
          <a:bodyPr wrap="square" lIns="0" tIns="0" rIns="0" bIns="0" rtlCol="0" anchor="t"/>
          <a:lstStyle/>
          <a:p>
            <a:pPr marL="203200" indent="-203200">
              <a:spcAft>
                <a:spcPts val="1600"/>
              </a:spcAft>
              <a:buSzPct val="100000"/>
              <a:buChar char="•"/>
            </a:pPr>
            <a:r>
              <a:rPr lang="en-US" sz="1500" dirty="0">
                <a:solidFill>
                  <a:srgbClr val="10303A"/>
                </a:solidFill>
                <a:latin typeface="Calibri" pitchFamily="34" charset="0"/>
                <a:ea typeface="Calibri" pitchFamily="34" charset="-122"/>
                <a:cs typeface="Calibri" pitchFamily="34" charset="-120"/>
              </a:rPr>
              <a:t>Search is keyword and tag based</a:t>
            </a:r>
            <a:endParaRPr lang="en-US" sz="1500" dirty="0"/>
          </a:p>
          <a:p>
            <a:pPr marL="203200" indent="-203200">
              <a:spcAft>
                <a:spcPts val="1600"/>
              </a:spcAft>
              <a:buSzPct val="100000"/>
              <a:buChar char="•"/>
            </a:pPr>
            <a:r>
              <a:rPr lang="en-US" sz="1500" dirty="0">
                <a:solidFill>
                  <a:srgbClr val="10303A"/>
                </a:solidFill>
                <a:latin typeface="Calibri" pitchFamily="34" charset="0"/>
                <a:ea typeface="Calibri" pitchFamily="34" charset="-122"/>
                <a:cs typeface="Calibri" pitchFamily="34" charset="-120"/>
              </a:rPr>
              <a:t>No cited, natural-language answers out of the box</a:t>
            </a:r>
            <a:endParaRPr lang="en-US" sz="1500" dirty="0"/>
          </a:p>
          <a:p>
            <a:pPr marL="203200" indent="-203200">
              <a:spcAft>
                <a:spcPts val="1600"/>
              </a:spcAft>
              <a:buSzPct val="100000"/>
              <a:buChar char="•"/>
            </a:pPr>
            <a:r>
              <a:rPr lang="en-US" sz="1500" dirty="0">
                <a:solidFill>
                  <a:srgbClr val="10303A"/>
                </a:solidFill>
                <a:latin typeface="Calibri" pitchFamily="34" charset="0"/>
                <a:ea typeface="Calibri" pitchFamily="34" charset="-122"/>
                <a:cs typeface="Calibri" pitchFamily="34" charset="-120"/>
              </a:rPr>
              <a:t>No page-level link into SOP PDFs</a:t>
            </a:r>
            <a:endParaRPr lang="en-US" sz="1500" dirty="0"/>
          </a:p>
          <a:p>
            <a:pPr marL="203200" indent="-203200">
              <a:spcAft>
                <a:spcPts val="1600"/>
              </a:spcAft>
              <a:buSzPct val="100000"/>
              <a:buChar char="•"/>
            </a:pPr>
            <a:r>
              <a:rPr lang="en-US" sz="1500" dirty="0">
                <a:solidFill>
                  <a:srgbClr val="10303A"/>
                </a:solidFill>
                <a:latin typeface="Calibri" pitchFamily="34" charset="0"/>
                <a:ea typeface="Calibri" pitchFamily="34" charset="-122"/>
                <a:cs typeface="Calibri" pitchFamily="34" charset="-120"/>
              </a:rPr>
              <a:t>No guard against ungrounded AI claims</a:t>
            </a:r>
            <a:endParaRPr lang="en-US" sz="1500" dirty="0"/>
          </a:p>
          <a:p>
            <a:pPr marL="203200" indent="-203200">
              <a:spcAft>
                <a:spcPts val="1600"/>
              </a:spcAft>
              <a:buSzPct val="100000"/>
              <a:buChar char="•"/>
            </a:pPr>
            <a:r>
              <a:rPr lang="en-US" sz="1500" dirty="0">
                <a:solidFill>
                  <a:srgbClr val="10303A"/>
                </a:solidFill>
                <a:latin typeface="Calibri" pitchFamily="34" charset="0"/>
                <a:ea typeface="Calibri" pitchFamily="34" charset="-122"/>
                <a:cs typeface="Calibri" pitchFamily="34" charset="-120"/>
              </a:rPr>
              <a:t>No reagent request workflow with review</a:t>
            </a:r>
            <a:endParaRPr lang="en-US" sz="1500" dirty="0"/>
          </a:p>
        </p:txBody>
      </p:sp>
      <p:sp>
        <p:nvSpPr>
          <p:cNvPr id="15" name="elabftw takeaway"/>
          <p:cNvSpPr txBox="1"/>
          <p:nvPr/>
        </p:nvSpPr>
        <p:spPr>
          <a:xfrm>
            <a:off x="5166360" y="5852160"/>
            <a:ext cx="6400800" cy="548640"/>
          </a:xfrm>
          <a:prstGeom prst="roundRect">
            <a:avLst>
              <a:gd name="adj" fmla="val 50000"/>
            </a:avLst>
          </a:prstGeom>
          <a:solidFill>
            <a:srgbClr val="0E5A63"/>
          </a:solidFill>
          <a:ln/>
        </p:spPr>
        <p:txBody>
          <a:bodyPr wrap="square" lIns="1270" tIns="1270" rIns="1270" bIns="1270" rtlCol="0" anchor="ctr"/>
          <a:lstStyle/>
          <a:p>
            <a:pPr algn="ctr" indent="0" marL="0">
              <a:buNone/>
            </a:pPr>
            <a:r>
              <a:rPr lang="en-US" sz="1500" b="1" dirty="0">
                <a:solidFill>
                  <a:srgbClr val="F4C95D"/>
                </a:solidFill>
                <a:latin typeface="Calibri" pitchFamily="34" charset="0"/>
                <a:ea typeface="Calibri" pitchFamily="34" charset="-122"/>
                <a:cs typeface="Calibri" pitchFamily="34" charset="-120"/>
              </a:rPr>
              <a:t>Our take: </a:t>
            </a:r>
            <a:pPr algn="ctr" indent="0" marL="0">
              <a:buNone/>
            </a:pPr>
            <a:r>
              <a:rPr lang="en-US" sz="1500" dirty="0">
                <a:solidFill>
                  <a:srgbClr val="FFFFFF"/>
                </a:solidFill>
                <a:latin typeface="Calibri" pitchFamily="34" charset="0"/>
                <a:ea typeface="Calibri" pitchFamily="34" charset="-122"/>
                <a:cs typeface="Calibri" pitchFamily="34" charset="-120"/>
              </a:rPr>
              <a:t>keep the notebook mindset, add an evidence layer on top that answers, cites and audits.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C73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10303A"/>
                </a:solidFill>
                <a:latin typeface="Cambria" pitchFamily="34" charset="0"/>
                <a:ea typeface="Cambria" pitchFamily="34" charset="-122"/>
                <a:cs typeface="Cambria" pitchFamily="34" charset="-120"/>
              </a:rPr>
              <a:t>Architecture</a:t>
            </a:r>
            <a:endParaRPr lang="en-US" sz="3600" dirty="0"/>
          </a:p>
        </p:txBody>
      </p:sp>
      <p:sp>
        <p:nvSpPr>
          <p:cNvPr id="3" name="panel Client"/>
          <p:cNvSpPr/>
          <p:nvPr/>
        </p:nvSpPr>
        <p:spPr>
          <a:xfrm>
            <a:off x="502920" y="1417320"/>
            <a:ext cx="2514600" cy="3611880"/>
          </a:xfrm>
          <a:prstGeom prst="roundRect">
            <a:avLst>
              <a:gd name="adj" fmla="val 6545"/>
            </a:avLst>
          </a:prstGeom>
          <a:solidFill>
            <a:srgbClr val="E6DFFB"/>
          </a:solidFill>
          <a:ln w="12700">
            <a:solidFill>
              <a:srgbClr val="E6DFFB"/>
            </a:solidFill>
            <a:prstDash val="solid"/>
          </a:ln>
        </p:spPr>
      </p:sp>
      <p:sp>
        <p:nvSpPr>
          <p:cNvPr id="4" name="Client badge"/>
          <p:cNvSpPr/>
          <p:nvPr/>
        </p:nvSpPr>
        <p:spPr>
          <a:xfrm>
            <a:off x="731520" y="1645920"/>
            <a:ext cx="640080" cy="640080"/>
          </a:xfrm>
          <a:prstGeom prst="ellipse">
            <a:avLst/>
          </a:prstGeom>
          <a:solidFill>
            <a:srgbClr val="B9A7EE"/>
          </a:solidFill>
          <a:ln w="12700">
            <a:solidFill>
              <a:srgbClr val="B9A7EE"/>
            </a:solidFill>
            <a:prstDash val="solid"/>
          </a:ln>
        </p:spPr>
      </p:sp>
      <p:pic>
        <p:nvPicPr>
          <p:cNvPr id="5" name="Client" descr="Client">    </p:cNvPr>
          <p:cNvPicPr>
            <a:picLocks noChangeAspect="1"/>
          </p:cNvPicPr>
          <p:nvPr/>
        </p:nvPicPr>
        <p:blipFill>
          <a:blip r:embed="rId1"/>
          <a:stretch>
            <a:fillRect/>
          </a:stretch>
        </p:blipFill>
        <p:spPr>
          <a:xfrm>
            <a:off x="891540" y="1805940"/>
            <a:ext cx="320040" cy="320040"/>
          </a:xfrm>
          <a:prstGeom prst="rect">
            <a:avLst/>
          </a:prstGeom>
        </p:spPr>
      </p:pic>
      <p:sp>
        <p:nvSpPr>
          <p:cNvPr id="6" name="Text 3"/>
          <p:cNvSpPr txBox="1"/>
          <p:nvPr/>
        </p:nvSpPr>
        <p:spPr>
          <a:xfrm>
            <a:off x="1463040" y="1673352"/>
            <a:ext cx="1417320" cy="329184"/>
          </a:xfrm>
          <a:prstGeom prst="rect">
            <a:avLst/>
          </a:prstGeom>
          <a:noFill/>
          <a:ln/>
        </p:spPr>
        <p:txBody>
          <a:bodyPr wrap="square" lIns="0" tIns="0" rIns="0" bIns="0" rtlCol="0" anchor="t"/>
          <a:lstStyle/>
          <a:p>
            <a:pPr indent="0" marL="0">
              <a:buNone/>
            </a:pPr>
            <a:r>
              <a:rPr lang="en-US" sz="2000" b="1" dirty="0">
                <a:solidFill>
                  <a:srgbClr val="10303A"/>
                </a:solidFill>
                <a:latin typeface="Cambria" pitchFamily="34" charset="0"/>
                <a:ea typeface="Cambria" pitchFamily="34" charset="-122"/>
                <a:cs typeface="Cambria" pitchFamily="34" charset="-120"/>
              </a:rPr>
              <a:t>Client</a:t>
            </a:r>
            <a:endParaRPr lang="en-US" sz="2000" dirty="0"/>
          </a:p>
        </p:txBody>
      </p:sp>
      <p:sp>
        <p:nvSpPr>
          <p:cNvPr id="7" name="Text 4"/>
          <p:cNvSpPr txBox="1"/>
          <p:nvPr/>
        </p:nvSpPr>
        <p:spPr>
          <a:xfrm>
            <a:off x="1463040" y="2002536"/>
            <a:ext cx="1463040" cy="274320"/>
          </a:xfrm>
          <a:prstGeom prst="rect">
            <a:avLst/>
          </a:prstGeom>
          <a:noFill/>
          <a:ln/>
        </p:spPr>
        <p:txBody>
          <a:bodyPr wrap="square" lIns="0" tIns="0" rIns="0" bIns="0" rtlCol="0" anchor="t"/>
          <a:lstStyle/>
          <a:p>
            <a:pPr indent="0" marL="0">
              <a:buNone/>
            </a:pPr>
            <a:r>
              <a:rPr lang="en-US" sz="1200" dirty="0">
                <a:solidFill>
                  <a:srgbClr val="5C7378"/>
                </a:solidFill>
                <a:latin typeface="Calibri" pitchFamily="34" charset="0"/>
                <a:ea typeface="Calibri" pitchFamily="34" charset="-122"/>
                <a:cs typeface="Calibri" pitchFamily="34" charset="-120"/>
              </a:rPr>
              <a:t>React + Vite + TS</a:t>
            </a:r>
            <a:endParaRPr lang="en-US" sz="1200" dirty="0"/>
          </a:p>
        </p:txBody>
      </p:sp>
      <p:sp>
        <p:nvSpPr>
          <p:cNvPr id="8" name="Text 5"/>
          <p:cNvSpPr txBox="1"/>
          <p:nvPr/>
        </p:nvSpPr>
        <p:spPr>
          <a:xfrm>
            <a:off x="731520" y="2560320"/>
            <a:ext cx="2103120" cy="2377440"/>
          </a:xfrm>
          <a:prstGeom prst="rect">
            <a:avLst/>
          </a:prstGeom>
          <a:noFill/>
          <a:ln/>
        </p:spPr>
        <p:txBody>
          <a:bodyPr wrap="square" lIns="0" tIns="0" rIns="0" bIns="0" rtlCol="0" anchor="t"/>
          <a:lstStyle/>
          <a:p>
            <a:pPr marL="177800" indent="-177800">
              <a:spcAft>
                <a:spcPts val="1100"/>
              </a:spcAft>
              <a:buSzPct val="100000"/>
              <a:buChar char="•"/>
            </a:pPr>
            <a:r>
              <a:rPr lang="en-US" sz="1500" dirty="0">
                <a:solidFill>
                  <a:srgbClr val="10303A"/>
                </a:solidFill>
                <a:latin typeface="Calibri" pitchFamily="34" charset="0"/>
                <a:ea typeface="Calibri" pitchFamily="34" charset="-122"/>
                <a:cs typeface="Calibri" pitchFamily="34" charset="-120"/>
              </a:rPr>
              <a:t>Chat with citations</a:t>
            </a:r>
            <a:endParaRPr lang="en-US" sz="1500" dirty="0"/>
          </a:p>
          <a:p>
            <a:pPr marL="177800" indent="-177800">
              <a:spcAft>
                <a:spcPts val="1100"/>
              </a:spcAft>
              <a:buSzPct val="100000"/>
              <a:buChar char="•"/>
            </a:pPr>
            <a:r>
              <a:rPr lang="en-US" sz="1500" dirty="0">
                <a:solidFill>
                  <a:srgbClr val="10303A"/>
                </a:solidFill>
                <a:latin typeface="Calibri" pitchFamily="34" charset="0"/>
                <a:ea typeface="Calibri" pitchFamily="34" charset="-122"/>
                <a:cs typeface="Calibri" pitchFamily="34" charset="-120"/>
              </a:rPr>
              <a:t>PDF opens at cited page, passage highlighted</a:t>
            </a:r>
            <a:endParaRPr lang="en-US" sz="1500" dirty="0"/>
          </a:p>
          <a:p>
            <a:pPr marL="177800" indent="-177800">
              <a:spcAft>
                <a:spcPts val="1100"/>
              </a:spcAft>
              <a:buSzPct val="100000"/>
              <a:buChar char="•"/>
            </a:pPr>
            <a:r>
              <a:rPr lang="en-US" sz="1500" dirty="0">
                <a:solidFill>
                  <a:srgbClr val="10303A"/>
                </a:solidFill>
                <a:latin typeface="Calibri" pitchFamily="34" charset="0"/>
                <a:ea typeface="Calibri" pitchFamily="34" charset="-122"/>
                <a:cs typeface="Calibri" pitchFamily="34" charset="-120"/>
              </a:rPr>
              <a:t>Projects, inventory, requests</a:t>
            </a:r>
            <a:endParaRPr lang="en-US" sz="1500" dirty="0"/>
          </a:p>
        </p:txBody>
      </p:sp>
      <p:sp>
        <p:nvSpPr>
          <p:cNvPr id="9" name="arrow"/>
          <p:cNvSpPr/>
          <p:nvPr/>
        </p:nvSpPr>
        <p:spPr>
          <a:xfrm>
            <a:off x="3054096" y="3223260"/>
            <a:ext cx="292608" cy="0"/>
          </a:xfrm>
          <a:prstGeom prst="line">
            <a:avLst/>
          </a:prstGeom>
          <a:noFill/>
          <a:ln w="31750">
            <a:solidFill>
              <a:srgbClr val="10303A"/>
            </a:solidFill>
            <a:prstDash val="solid"/>
            <a:tailEnd type="triangle"/>
          </a:ln>
        </p:spPr>
      </p:sp>
      <p:sp>
        <p:nvSpPr>
          <p:cNvPr id="10" name="panel API"/>
          <p:cNvSpPr/>
          <p:nvPr/>
        </p:nvSpPr>
        <p:spPr>
          <a:xfrm>
            <a:off x="3383280" y="1417320"/>
            <a:ext cx="2514600" cy="3611880"/>
          </a:xfrm>
          <a:prstGeom prst="roundRect">
            <a:avLst>
              <a:gd name="adj" fmla="val 6545"/>
            </a:avLst>
          </a:prstGeom>
          <a:solidFill>
            <a:srgbClr val="E8F5F0"/>
          </a:solidFill>
          <a:ln w="12700">
            <a:solidFill>
              <a:srgbClr val="E8F5F0"/>
            </a:solidFill>
            <a:prstDash val="solid"/>
          </a:ln>
        </p:spPr>
      </p:sp>
      <p:sp>
        <p:nvSpPr>
          <p:cNvPr id="11" name="API badge"/>
          <p:cNvSpPr/>
          <p:nvPr/>
        </p:nvSpPr>
        <p:spPr>
          <a:xfrm>
            <a:off x="3611880" y="1645920"/>
            <a:ext cx="640080" cy="640080"/>
          </a:xfrm>
          <a:prstGeom prst="ellipse">
            <a:avLst/>
          </a:prstGeom>
          <a:solidFill>
            <a:srgbClr val="2FA39B"/>
          </a:solidFill>
          <a:ln w="12700">
            <a:solidFill>
              <a:srgbClr val="2FA39B"/>
            </a:solidFill>
            <a:prstDash val="solid"/>
          </a:ln>
        </p:spPr>
      </p:sp>
      <p:pic>
        <p:nvPicPr>
          <p:cNvPr id="12" name="API" descr="API">    </p:cNvPr>
          <p:cNvPicPr>
            <a:picLocks noChangeAspect="1"/>
          </p:cNvPicPr>
          <p:nvPr/>
        </p:nvPicPr>
        <p:blipFill>
          <a:blip r:embed="rId2"/>
          <a:stretch>
            <a:fillRect/>
          </a:stretch>
        </p:blipFill>
        <p:spPr>
          <a:xfrm>
            <a:off x="3771900" y="1805940"/>
            <a:ext cx="320040" cy="320040"/>
          </a:xfrm>
          <a:prstGeom prst="rect">
            <a:avLst/>
          </a:prstGeom>
        </p:spPr>
      </p:pic>
      <p:sp>
        <p:nvSpPr>
          <p:cNvPr id="13" name="Text 9"/>
          <p:cNvSpPr txBox="1"/>
          <p:nvPr/>
        </p:nvSpPr>
        <p:spPr>
          <a:xfrm>
            <a:off x="4343400" y="1673352"/>
            <a:ext cx="1417320" cy="329184"/>
          </a:xfrm>
          <a:prstGeom prst="rect">
            <a:avLst/>
          </a:prstGeom>
          <a:noFill/>
          <a:ln/>
        </p:spPr>
        <p:txBody>
          <a:bodyPr wrap="square" lIns="0" tIns="0" rIns="0" bIns="0" rtlCol="0" anchor="t"/>
          <a:lstStyle/>
          <a:p>
            <a:pPr indent="0" marL="0">
              <a:buNone/>
            </a:pPr>
            <a:r>
              <a:rPr lang="en-US" sz="2000" b="1" dirty="0">
                <a:solidFill>
                  <a:srgbClr val="10303A"/>
                </a:solidFill>
                <a:latin typeface="Cambria" pitchFamily="34" charset="0"/>
                <a:ea typeface="Cambria" pitchFamily="34" charset="-122"/>
                <a:cs typeface="Cambria" pitchFamily="34" charset="-120"/>
              </a:rPr>
              <a:t>API</a:t>
            </a:r>
            <a:endParaRPr lang="en-US" sz="2000" dirty="0"/>
          </a:p>
        </p:txBody>
      </p:sp>
      <p:sp>
        <p:nvSpPr>
          <p:cNvPr id="14" name="Text 10"/>
          <p:cNvSpPr txBox="1"/>
          <p:nvPr/>
        </p:nvSpPr>
        <p:spPr>
          <a:xfrm>
            <a:off x="4343400" y="2002536"/>
            <a:ext cx="1463040" cy="274320"/>
          </a:xfrm>
          <a:prstGeom prst="rect">
            <a:avLst/>
          </a:prstGeom>
          <a:noFill/>
          <a:ln/>
        </p:spPr>
        <p:txBody>
          <a:bodyPr wrap="square" lIns="0" tIns="0" rIns="0" bIns="0" rtlCol="0" anchor="t"/>
          <a:lstStyle/>
          <a:p>
            <a:pPr indent="0" marL="0">
              <a:buNone/>
            </a:pPr>
            <a:r>
              <a:rPr lang="en-US" sz="1200" dirty="0">
                <a:solidFill>
                  <a:srgbClr val="5C7378"/>
                </a:solidFill>
                <a:latin typeface="Calibri" pitchFamily="34" charset="0"/>
                <a:ea typeface="Calibri" pitchFamily="34" charset="-122"/>
                <a:cs typeface="Calibri" pitchFamily="34" charset="-120"/>
              </a:rPr>
              <a:t>FastAPI · Python 3.12</a:t>
            </a:r>
            <a:endParaRPr lang="en-US" sz="1200" dirty="0"/>
          </a:p>
        </p:txBody>
      </p:sp>
      <p:sp>
        <p:nvSpPr>
          <p:cNvPr id="15" name="Text 11"/>
          <p:cNvSpPr txBox="1"/>
          <p:nvPr/>
        </p:nvSpPr>
        <p:spPr>
          <a:xfrm>
            <a:off x="3611880" y="2560320"/>
            <a:ext cx="2103120" cy="2377440"/>
          </a:xfrm>
          <a:prstGeom prst="rect">
            <a:avLst/>
          </a:prstGeom>
          <a:noFill/>
          <a:ln/>
        </p:spPr>
        <p:txBody>
          <a:bodyPr wrap="square" lIns="0" tIns="0" rIns="0" bIns="0" rtlCol="0" anchor="t"/>
          <a:lstStyle/>
          <a:p>
            <a:pPr marL="177800" indent="-177800">
              <a:spcAft>
                <a:spcPts val="1100"/>
              </a:spcAft>
              <a:buSzPct val="100000"/>
              <a:buChar char="•"/>
            </a:pPr>
            <a:r>
              <a:rPr lang="en-US" sz="1500" dirty="0">
                <a:solidFill>
                  <a:srgbClr val="10303A"/>
                </a:solidFill>
                <a:latin typeface="Calibri" pitchFamily="34" charset="0"/>
                <a:ea typeface="Calibri" pitchFamily="34" charset="-122"/>
                <a:cs typeface="Calibri" pitchFamily="34" charset="-120"/>
              </a:rPr>
              <a:t>JWT auth and role-based access</a:t>
            </a:r>
            <a:endParaRPr lang="en-US" sz="1500" dirty="0"/>
          </a:p>
          <a:p>
            <a:pPr marL="177800" indent="-177800">
              <a:spcAft>
                <a:spcPts val="1100"/>
              </a:spcAft>
              <a:buSzPct val="100000"/>
              <a:buChar char="•"/>
            </a:pPr>
            <a:r>
              <a:rPr lang="en-US" sz="1500" dirty="0">
                <a:solidFill>
                  <a:srgbClr val="10303A"/>
                </a:solidFill>
                <a:latin typeface="Calibri" pitchFamily="34" charset="0"/>
                <a:ea typeface="Calibri" pitchFamily="34" charset="-122"/>
                <a:cs typeface="Calibri" pitchFamily="34" charset="-120"/>
              </a:rPr>
              <a:t>Per-IP rate limits</a:t>
            </a:r>
            <a:endParaRPr lang="en-US" sz="1500" dirty="0"/>
          </a:p>
          <a:p>
            <a:pPr marL="177800" indent="-177800">
              <a:spcAft>
                <a:spcPts val="1100"/>
              </a:spcAft>
              <a:buSzPct val="100000"/>
              <a:buChar char="•"/>
            </a:pPr>
            <a:r>
              <a:rPr lang="en-US" sz="1500" dirty="0">
                <a:solidFill>
                  <a:srgbClr val="10303A"/>
                </a:solidFill>
                <a:latin typeface="Calibri" pitchFamily="34" charset="0"/>
                <a:ea typeface="Calibri" pitchFamily="34" charset="-122"/>
                <a:cs typeface="Calibri" pitchFamily="34" charset="-120"/>
              </a:rPr>
              <a:t>Routers for chat, projects, inventory, audit</a:t>
            </a:r>
            <a:endParaRPr lang="en-US" sz="1500" dirty="0"/>
          </a:p>
        </p:txBody>
      </p:sp>
      <p:sp>
        <p:nvSpPr>
          <p:cNvPr id="16" name="arrow"/>
          <p:cNvSpPr/>
          <p:nvPr/>
        </p:nvSpPr>
        <p:spPr>
          <a:xfrm>
            <a:off x="5934456" y="3223260"/>
            <a:ext cx="292608" cy="0"/>
          </a:xfrm>
          <a:prstGeom prst="line">
            <a:avLst/>
          </a:prstGeom>
          <a:noFill/>
          <a:ln w="31750">
            <a:solidFill>
              <a:srgbClr val="10303A"/>
            </a:solidFill>
            <a:prstDash val="solid"/>
            <a:tailEnd type="triangle"/>
          </a:ln>
        </p:spPr>
      </p:sp>
      <p:sp>
        <p:nvSpPr>
          <p:cNvPr id="17" name="panel Services"/>
          <p:cNvSpPr/>
          <p:nvPr/>
        </p:nvSpPr>
        <p:spPr>
          <a:xfrm>
            <a:off x="6263640" y="1417320"/>
            <a:ext cx="2514600" cy="3611880"/>
          </a:xfrm>
          <a:prstGeom prst="roundRect">
            <a:avLst>
              <a:gd name="adj" fmla="val 6545"/>
            </a:avLst>
          </a:prstGeom>
          <a:solidFill>
            <a:srgbClr val="FFD9CF"/>
          </a:solidFill>
          <a:ln w="12700">
            <a:solidFill>
              <a:srgbClr val="FFD9CF"/>
            </a:solidFill>
            <a:prstDash val="solid"/>
          </a:ln>
        </p:spPr>
      </p:sp>
      <p:sp>
        <p:nvSpPr>
          <p:cNvPr id="18" name="Services badge"/>
          <p:cNvSpPr/>
          <p:nvPr/>
        </p:nvSpPr>
        <p:spPr>
          <a:xfrm>
            <a:off x="6492240" y="1645920"/>
            <a:ext cx="640080" cy="640080"/>
          </a:xfrm>
          <a:prstGeom prst="ellipse">
            <a:avLst/>
          </a:prstGeom>
          <a:solidFill>
            <a:srgbClr val="F26B50"/>
          </a:solidFill>
          <a:ln w="12700">
            <a:solidFill>
              <a:srgbClr val="F26B50"/>
            </a:solidFill>
            <a:prstDash val="solid"/>
          </a:ln>
        </p:spPr>
      </p:sp>
      <p:pic>
        <p:nvPicPr>
          <p:cNvPr id="19" name="Services" descr="Services">    </p:cNvPr>
          <p:cNvPicPr>
            <a:picLocks noChangeAspect="1"/>
          </p:cNvPicPr>
          <p:nvPr/>
        </p:nvPicPr>
        <p:blipFill>
          <a:blip r:embed="rId3"/>
          <a:stretch>
            <a:fillRect/>
          </a:stretch>
        </p:blipFill>
        <p:spPr>
          <a:xfrm>
            <a:off x="6652260" y="1805940"/>
            <a:ext cx="320040" cy="320040"/>
          </a:xfrm>
          <a:prstGeom prst="rect">
            <a:avLst/>
          </a:prstGeom>
        </p:spPr>
      </p:pic>
      <p:sp>
        <p:nvSpPr>
          <p:cNvPr id="20" name="Text 15"/>
          <p:cNvSpPr txBox="1"/>
          <p:nvPr/>
        </p:nvSpPr>
        <p:spPr>
          <a:xfrm>
            <a:off x="7223760" y="1673352"/>
            <a:ext cx="1417320" cy="329184"/>
          </a:xfrm>
          <a:prstGeom prst="rect">
            <a:avLst/>
          </a:prstGeom>
          <a:noFill/>
          <a:ln/>
        </p:spPr>
        <p:txBody>
          <a:bodyPr wrap="square" lIns="0" tIns="0" rIns="0" bIns="0" rtlCol="0" anchor="t"/>
          <a:lstStyle/>
          <a:p>
            <a:pPr indent="0" marL="0">
              <a:buNone/>
            </a:pPr>
            <a:r>
              <a:rPr lang="en-US" sz="2000" b="1" dirty="0">
                <a:solidFill>
                  <a:srgbClr val="10303A"/>
                </a:solidFill>
                <a:latin typeface="Cambria" pitchFamily="34" charset="0"/>
                <a:ea typeface="Cambria" pitchFamily="34" charset="-122"/>
                <a:cs typeface="Cambria" pitchFamily="34" charset="-120"/>
              </a:rPr>
              <a:t>Services</a:t>
            </a:r>
            <a:endParaRPr lang="en-US" sz="2000" dirty="0"/>
          </a:p>
        </p:txBody>
      </p:sp>
      <p:sp>
        <p:nvSpPr>
          <p:cNvPr id="21" name="Text 16"/>
          <p:cNvSpPr txBox="1"/>
          <p:nvPr/>
        </p:nvSpPr>
        <p:spPr>
          <a:xfrm>
            <a:off x="7223760" y="2002536"/>
            <a:ext cx="1463040" cy="274320"/>
          </a:xfrm>
          <a:prstGeom prst="rect">
            <a:avLst/>
          </a:prstGeom>
          <a:noFill/>
          <a:ln/>
        </p:spPr>
        <p:txBody>
          <a:bodyPr wrap="square" lIns="0" tIns="0" rIns="0" bIns="0" rtlCol="0" anchor="t"/>
          <a:lstStyle/>
          <a:p>
            <a:pPr indent="0" marL="0">
              <a:buNone/>
            </a:pPr>
            <a:r>
              <a:rPr lang="en-US" sz="1200" dirty="0">
                <a:solidFill>
                  <a:srgbClr val="5C7378"/>
                </a:solidFill>
                <a:latin typeface="Calibri" pitchFamily="34" charset="0"/>
                <a:ea typeface="Calibri" pitchFamily="34" charset="-122"/>
                <a:cs typeface="Calibri" pitchFamily="34" charset="-120"/>
              </a:rPr>
              <a:t>Pipeline logic</a:t>
            </a:r>
            <a:endParaRPr lang="en-US" sz="1200" dirty="0"/>
          </a:p>
        </p:txBody>
      </p:sp>
      <p:sp>
        <p:nvSpPr>
          <p:cNvPr id="22" name="Text 17"/>
          <p:cNvSpPr txBox="1"/>
          <p:nvPr/>
        </p:nvSpPr>
        <p:spPr>
          <a:xfrm>
            <a:off x="6492240" y="2560320"/>
            <a:ext cx="2103120" cy="2377440"/>
          </a:xfrm>
          <a:prstGeom prst="rect">
            <a:avLst/>
          </a:prstGeom>
          <a:noFill/>
          <a:ln/>
        </p:spPr>
        <p:txBody>
          <a:bodyPr wrap="square" lIns="0" tIns="0" rIns="0" bIns="0" rtlCol="0" anchor="t"/>
          <a:lstStyle/>
          <a:p>
            <a:pPr marL="177800" indent="-177800">
              <a:spcAft>
                <a:spcPts val="1100"/>
              </a:spcAft>
              <a:buSzPct val="100000"/>
              <a:buChar char="•"/>
            </a:pPr>
            <a:r>
              <a:rPr lang="en-US" sz="1500" dirty="0">
                <a:solidFill>
                  <a:srgbClr val="10303A"/>
                </a:solidFill>
                <a:latin typeface="Calibri" pitchFamily="34" charset="0"/>
                <a:ea typeface="Calibri" pitchFamily="34" charset="-122"/>
                <a:cs typeface="Calibri" pitchFamily="34" charset="-120"/>
              </a:rPr>
              <a:t>Ingest: parse, chunk, embed</a:t>
            </a:r>
            <a:endParaRPr lang="en-US" sz="1500" dirty="0"/>
          </a:p>
          <a:p>
            <a:pPr marL="177800" indent="-177800">
              <a:spcAft>
                <a:spcPts val="1100"/>
              </a:spcAft>
              <a:buSzPct val="100000"/>
              <a:buChar char="•"/>
            </a:pPr>
            <a:r>
              <a:rPr lang="en-US" sz="1500" dirty="0">
                <a:solidFill>
                  <a:srgbClr val="10303A"/>
                </a:solidFill>
                <a:latin typeface="Calibri" pitchFamily="34" charset="0"/>
                <a:ea typeface="Calibri" pitchFamily="34" charset="-122"/>
                <a:cs typeface="Calibri" pitchFamily="34" charset="-120"/>
              </a:rPr>
              <a:t>Hybrid retriever (vector + text)</a:t>
            </a:r>
            <a:endParaRPr lang="en-US" sz="1500" dirty="0"/>
          </a:p>
          <a:p>
            <a:pPr marL="177800" indent="-177800">
              <a:spcAft>
                <a:spcPts val="1100"/>
              </a:spcAft>
              <a:buSzPct val="100000"/>
              <a:buChar char="•"/>
            </a:pPr>
            <a:r>
              <a:rPr lang="en-US" sz="1500" dirty="0">
                <a:solidFill>
                  <a:srgbClr val="10303A"/>
                </a:solidFill>
                <a:latin typeface="Calibri" pitchFamily="34" charset="0"/>
                <a:ea typeface="Calibri" pitchFamily="34" charset="-122"/>
                <a:cs typeface="Calibri" pitchFamily="34" charset="-120"/>
              </a:rPr>
              <a:t>RAG and evidence validator</a:t>
            </a:r>
            <a:endParaRPr lang="en-US" sz="1500" dirty="0"/>
          </a:p>
          <a:p>
            <a:pPr marL="177800" indent="-177800">
              <a:spcAft>
                <a:spcPts val="1100"/>
              </a:spcAft>
              <a:buSzPct val="100000"/>
              <a:buChar char="•"/>
            </a:pPr>
            <a:r>
              <a:rPr lang="en-US" sz="1500" dirty="0">
                <a:solidFill>
                  <a:srgbClr val="10303A"/>
                </a:solidFill>
                <a:latin typeface="Calibri" pitchFamily="34" charset="0"/>
                <a:ea typeface="Calibri" pitchFamily="34" charset="-122"/>
                <a:cs typeface="Calibri" pitchFamily="34" charset="-120"/>
              </a:rPr>
              <a:t>Troubleshoot and request workflow</a:t>
            </a:r>
            <a:endParaRPr lang="en-US" sz="1500" dirty="0"/>
          </a:p>
        </p:txBody>
      </p:sp>
      <p:sp>
        <p:nvSpPr>
          <p:cNvPr id="23" name="arrow"/>
          <p:cNvSpPr/>
          <p:nvPr/>
        </p:nvSpPr>
        <p:spPr>
          <a:xfrm>
            <a:off x="8814816" y="3223260"/>
            <a:ext cx="292608" cy="0"/>
          </a:xfrm>
          <a:prstGeom prst="line">
            <a:avLst/>
          </a:prstGeom>
          <a:noFill/>
          <a:ln w="31750">
            <a:solidFill>
              <a:srgbClr val="10303A"/>
            </a:solidFill>
            <a:prstDash val="solid"/>
            <a:tailEnd type="triangle"/>
          </a:ln>
        </p:spPr>
      </p:sp>
      <p:sp>
        <p:nvSpPr>
          <p:cNvPr id="24" name="panel Data"/>
          <p:cNvSpPr/>
          <p:nvPr/>
        </p:nvSpPr>
        <p:spPr>
          <a:xfrm>
            <a:off x="9144000" y="1417320"/>
            <a:ext cx="2514600" cy="3611880"/>
          </a:xfrm>
          <a:prstGeom prst="roundRect">
            <a:avLst>
              <a:gd name="adj" fmla="val 6545"/>
            </a:avLst>
          </a:prstGeom>
          <a:solidFill>
            <a:srgbClr val="FFF0C2"/>
          </a:solidFill>
          <a:ln w="12700">
            <a:solidFill>
              <a:srgbClr val="FFF0C2"/>
            </a:solidFill>
            <a:prstDash val="solid"/>
          </a:ln>
        </p:spPr>
      </p:sp>
      <p:sp>
        <p:nvSpPr>
          <p:cNvPr id="25" name="Data badge"/>
          <p:cNvSpPr/>
          <p:nvPr/>
        </p:nvSpPr>
        <p:spPr>
          <a:xfrm>
            <a:off x="9372600" y="1645920"/>
            <a:ext cx="640080" cy="640080"/>
          </a:xfrm>
          <a:prstGeom prst="ellipse">
            <a:avLst/>
          </a:prstGeom>
          <a:solidFill>
            <a:srgbClr val="F4C95D"/>
          </a:solidFill>
          <a:ln w="12700">
            <a:solidFill>
              <a:srgbClr val="F4C95D"/>
            </a:solidFill>
            <a:prstDash val="solid"/>
          </a:ln>
        </p:spPr>
      </p:sp>
      <p:pic>
        <p:nvPicPr>
          <p:cNvPr id="26" name="Data" descr="Data">    </p:cNvPr>
          <p:cNvPicPr>
            <a:picLocks noChangeAspect="1"/>
          </p:cNvPicPr>
          <p:nvPr/>
        </p:nvPicPr>
        <p:blipFill>
          <a:blip r:embed="rId4"/>
          <a:stretch>
            <a:fillRect/>
          </a:stretch>
        </p:blipFill>
        <p:spPr>
          <a:xfrm>
            <a:off x="9532620" y="1805940"/>
            <a:ext cx="320040" cy="320040"/>
          </a:xfrm>
          <a:prstGeom prst="rect">
            <a:avLst/>
          </a:prstGeom>
        </p:spPr>
      </p:pic>
      <p:sp>
        <p:nvSpPr>
          <p:cNvPr id="27" name="Text 21"/>
          <p:cNvSpPr txBox="1"/>
          <p:nvPr/>
        </p:nvSpPr>
        <p:spPr>
          <a:xfrm>
            <a:off x="10104120" y="1673352"/>
            <a:ext cx="1417320" cy="329184"/>
          </a:xfrm>
          <a:prstGeom prst="rect">
            <a:avLst/>
          </a:prstGeom>
          <a:noFill/>
          <a:ln/>
        </p:spPr>
        <p:txBody>
          <a:bodyPr wrap="square" lIns="0" tIns="0" rIns="0" bIns="0" rtlCol="0" anchor="t"/>
          <a:lstStyle/>
          <a:p>
            <a:pPr indent="0" marL="0">
              <a:buNone/>
            </a:pPr>
            <a:r>
              <a:rPr lang="en-US" sz="2000" b="1" dirty="0">
                <a:solidFill>
                  <a:srgbClr val="10303A"/>
                </a:solidFill>
                <a:latin typeface="Cambria" pitchFamily="34" charset="0"/>
                <a:ea typeface="Cambria" pitchFamily="34" charset="-122"/>
                <a:cs typeface="Cambria" pitchFamily="34" charset="-120"/>
              </a:rPr>
              <a:t>Data</a:t>
            </a:r>
            <a:endParaRPr lang="en-US" sz="2000" dirty="0"/>
          </a:p>
        </p:txBody>
      </p:sp>
      <p:sp>
        <p:nvSpPr>
          <p:cNvPr id="28" name="Text 22"/>
          <p:cNvSpPr txBox="1"/>
          <p:nvPr/>
        </p:nvSpPr>
        <p:spPr>
          <a:xfrm>
            <a:off x="10104120" y="2002536"/>
            <a:ext cx="1463040" cy="274320"/>
          </a:xfrm>
          <a:prstGeom prst="rect">
            <a:avLst/>
          </a:prstGeom>
          <a:noFill/>
          <a:ln/>
        </p:spPr>
        <p:txBody>
          <a:bodyPr wrap="square" lIns="0" tIns="0" rIns="0" bIns="0" rtlCol="0" anchor="t"/>
          <a:lstStyle/>
          <a:p>
            <a:pPr indent="0" marL="0">
              <a:buNone/>
            </a:pPr>
            <a:r>
              <a:rPr lang="en-US" sz="1200" dirty="0">
                <a:solidFill>
                  <a:srgbClr val="5C7378"/>
                </a:solidFill>
                <a:latin typeface="Calibri" pitchFamily="34" charset="0"/>
                <a:ea typeface="Calibri" pitchFamily="34" charset="-122"/>
                <a:cs typeface="Calibri" pitchFamily="34" charset="-120"/>
              </a:rPr>
              <a:t>PostgreSQL + pgvector</a:t>
            </a:r>
            <a:endParaRPr lang="en-US" sz="1200" dirty="0"/>
          </a:p>
        </p:txBody>
      </p:sp>
      <p:sp>
        <p:nvSpPr>
          <p:cNvPr id="29" name="Text 23"/>
          <p:cNvSpPr txBox="1"/>
          <p:nvPr/>
        </p:nvSpPr>
        <p:spPr>
          <a:xfrm>
            <a:off x="9372600" y="2560320"/>
            <a:ext cx="2103120" cy="2377440"/>
          </a:xfrm>
          <a:prstGeom prst="rect">
            <a:avLst/>
          </a:prstGeom>
          <a:noFill/>
          <a:ln/>
        </p:spPr>
        <p:txBody>
          <a:bodyPr wrap="square" lIns="0" tIns="0" rIns="0" bIns="0" rtlCol="0" anchor="t"/>
          <a:lstStyle/>
          <a:p>
            <a:pPr marL="177800" indent="-177800">
              <a:spcAft>
                <a:spcPts val="1100"/>
              </a:spcAft>
              <a:buSzPct val="100000"/>
              <a:buChar char="•"/>
            </a:pPr>
            <a:r>
              <a:rPr lang="en-US" sz="1500" dirty="0">
                <a:solidFill>
                  <a:srgbClr val="10303A"/>
                </a:solidFill>
                <a:latin typeface="Calibri" pitchFamily="34" charset="0"/>
                <a:ea typeface="Calibri" pitchFamily="34" charset="-122"/>
                <a:cs typeface="Calibri" pitchFamily="34" charset="-120"/>
              </a:rPr>
              <a:t>Chunks and embeddings</a:t>
            </a:r>
            <a:endParaRPr lang="en-US" sz="1500" dirty="0"/>
          </a:p>
          <a:p>
            <a:pPr marL="177800" indent="-177800">
              <a:spcAft>
                <a:spcPts val="1100"/>
              </a:spcAft>
              <a:buSzPct val="100000"/>
              <a:buChar char="•"/>
            </a:pPr>
            <a:r>
              <a:rPr lang="en-US" sz="1500" dirty="0">
                <a:solidFill>
                  <a:srgbClr val="10303A"/>
                </a:solidFill>
                <a:latin typeface="Calibri" pitchFamily="34" charset="0"/>
                <a:ea typeface="Calibri" pitchFamily="34" charset="-122"/>
                <a:cs typeface="Calibri" pitchFamily="34" charset="-120"/>
              </a:rPr>
              <a:t>Append-only experiment versions</a:t>
            </a:r>
            <a:endParaRPr lang="en-US" sz="1500" dirty="0"/>
          </a:p>
          <a:p>
            <a:pPr marL="177800" indent="-177800">
              <a:spcAft>
                <a:spcPts val="1100"/>
              </a:spcAft>
              <a:buSzPct val="100000"/>
              <a:buChar char="•"/>
            </a:pPr>
            <a:r>
              <a:rPr lang="en-US" sz="1500" dirty="0">
                <a:solidFill>
                  <a:srgbClr val="10303A"/>
                </a:solidFill>
                <a:latin typeface="Calibri" pitchFamily="34" charset="0"/>
                <a:ea typeface="Calibri" pitchFamily="34" charset="-122"/>
                <a:cs typeface="Calibri" pitchFamily="34" charset="-120"/>
              </a:rPr>
              <a:t>Hash-chained audit log</a:t>
            </a:r>
            <a:endParaRPr lang="en-US" sz="1500" dirty="0"/>
          </a:p>
          <a:p>
            <a:pPr marL="177800" indent="-177800">
              <a:spcAft>
                <a:spcPts val="1100"/>
              </a:spcAft>
              <a:buSzPct val="100000"/>
              <a:buChar char="•"/>
            </a:pPr>
            <a:r>
              <a:rPr lang="en-US" sz="1500" dirty="0">
                <a:solidFill>
                  <a:srgbClr val="10303A"/>
                </a:solidFill>
                <a:latin typeface="Calibri" pitchFamily="34" charset="0"/>
                <a:ea typeface="Calibri" pitchFamily="34" charset="-122"/>
                <a:cs typeface="Calibri" pitchFamily="34" charset="-120"/>
              </a:rPr>
              <a:t>Inventory lots and requests</a:t>
            </a:r>
            <a:endParaRPr lang="en-US" sz="1500" dirty="0"/>
          </a:p>
        </p:txBody>
      </p:sp>
      <p:sp>
        <p:nvSpPr>
          <p:cNvPr id="30" name="Text 24"/>
          <p:cNvSpPr txBox="1"/>
          <p:nvPr/>
        </p:nvSpPr>
        <p:spPr>
          <a:xfrm>
            <a:off x="502920" y="5349240"/>
            <a:ext cx="2103120" cy="640080"/>
          </a:xfrm>
          <a:prstGeom prst="rect">
            <a:avLst/>
          </a:prstGeom>
          <a:noFill/>
          <a:ln/>
        </p:spPr>
        <p:txBody>
          <a:bodyPr wrap="square" lIns="0" tIns="0" rIns="0" bIns="0" rtlCol="0" anchor="ctr"/>
          <a:lstStyle/>
          <a:p>
            <a:pPr indent="0" marL="0">
              <a:buNone/>
            </a:pPr>
            <a:r>
              <a:rPr lang="en-US" sz="1400" b="1" dirty="0">
                <a:solidFill>
                  <a:srgbClr val="5C7378"/>
                </a:solidFill>
                <a:latin typeface="Calibri" pitchFamily="34" charset="0"/>
                <a:ea typeface="Calibri" pitchFamily="34" charset="-122"/>
                <a:cs typeface="Calibri" pitchFamily="34" charset="-120"/>
              </a:rPr>
              <a:t>External, consent-gated</a:t>
            </a:r>
            <a:endParaRPr lang="en-US" sz="1400" dirty="0"/>
          </a:p>
        </p:txBody>
      </p:sp>
      <p:sp>
        <p:nvSpPr>
          <p:cNvPr id="31" name="external Gemini: LLM + embeddings"/>
          <p:cNvSpPr/>
          <p:nvPr/>
        </p:nvSpPr>
        <p:spPr>
          <a:xfrm>
            <a:off x="2743200" y="5349240"/>
            <a:ext cx="2743200" cy="640080"/>
          </a:xfrm>
          <a:prstGeom prst="roundRect">
            <a:avLst>
              <a:gd name="adj" fmla="val 50000"/>
            </a:avLst>
          </a:prstGeom>
          <a:solidFill>
            <a:srgbClr val="FFFFFF"/>
          </a:solidFill>
          <a:ln w="19050">
            <a:solidFill>
              <a:srgbClr val="2FA39B"/>
            </a:solidFill>
            <a:prstDash val="dash"/>
          </a:ln>
        </p:spPr>
      </p:sp>
      <p:pic>
        <p:nvPicPr>
          <p:cNvPr id="32" name="icon FaMagic" descr="Gemini: LLM + embeddings">    </p:cNvPr>
          <p:cNvPicPr>
            <a:picLocks noChangeAspect="1"/>
          </p:cNvPicPr>
          <p:nvPr/>
        </p:nvPicPr>
        <p:blipFill>
          <a:blip r:embed="rId5"/>
          <a:stretch>
            <a:fillRect/>
          </a:stretch>
        </p:blipFill>
        <p:spPr>
          <a:xfrm>
            <a:off x="2944368" y="5532120"/>
            <a:ext cx="274320" cy="274320"/>
          </a:xfrm>
          <a:prstGeom prst="rect">
            <a:avLst/>
          </a:prstGeom>
        </p:spPr>
      </p:pic>
      <p:sp>
        <p:nvSpPr>
          <p:cNvPr id="33" name="Text 26"/>
          <p:cNvSpPr txBox="1"/>
          <p:nvPr/>
        </p:nvSpPr>
        <p:spPr>
          <a:xfrm>
            <a:off x="3337560" y="5349240"/>
            <a:ext cx="2057400" cy="640080"/>
          </a:xfrm>
          <a:prstGeom prst="rect">
            <a:avLst/>
          </a:prstGeom>
          <a:noFill/>
          <a:ln/>
        </p:spPr>
        <p:txBody>
          <a:bodyPr wrap="square" lIns="0" tIns="0" rIns="0" bIns="0" rtlCol="0" anchor="ctr"/>
          <a:lstStyle/>
          <a:p>
            <a:pPr indent="0" marL="0">
              <a:buNone/>
            </a:pPr>
            <a:r>
              <a:rPr lang="en-US" sz="1400" dirty="0">
                <a:solidFill>
                  <a:srgbClr val="10303A"/>
                </a:solidFill>
                <a:latin typeface="Calibri" pitchFamily="34" charset="0"/>
                <a:ea typeface="Calibri" pitchFamily="34" charset="-122"/>
                <a:cs typeface="Calibri" pitchFamily="34" charset="-120"/>
              </a:rPr>
              <a:t>Gemini: LLM + embeddings</a:t>
            </a:r>
            <a:endParaRPr lang="en-US" sz="1400" dirty="0"/>
          </a:p>
        </p:txBody>
      </p:sp>
      <p:sp>
        <p:nvSpPr>
          <p:cNvPr id="34" name="external PubChem: reagent data"/>
          <p:cNvSpPr/>
          <p:nvPr/>
        </p:nvSpPr>
        <p:spPr>
          <a:xfrm>
            <a:off x="5669280" y="5349240"/>
            <a:ext cx="2743200" cy="640080"/>
          </a:xfrm>
          <a:prstGeom prst="roundRect">
            <a:avLst>
              <a:gd name="adj" fmla="val 50000"/>
            </a:avLst>
          </a:prstGeom>
          <a:solidFill>
            <a:srgbClr val="FFFFFF"/>
          </a:solidFill>
          <a:ln w="19050">
            <a:solidFill>
              <a:srgbClr val="2FA39B"/>
            </a:solidFill>
            <a:prstDash val="dash"/>
          </a:ln>
        </p:spPr>
      </p:sp>
      <p:pic>
        <p:nvPicPr>
          <p:cNvPr id="35" name="icon FaFlask" descr="PubChem: reagent data">    </p:cNvPr>
          <p:cNvPicPr>
            <a:picLocks noChangeAspect="1"/>
          </p:cNvPicPr>
          <p:nvPr/>
        </p:nvPicPr>
        <p:blipFill>
          <a:blip r:embed="rId6"/>
          <a:stretch>
            <a:fillRect/>
          </a:stretch>
        </p:blipFill>
        <p:spPr>
          <a:xfrm>
            <a:off x="5870448" y="5532120"/>
            <a:ext cx="274320" cy="274320"/>
          </a:xfrm>
          <a:prstGeom prst="rect">
            <a:avLst/>
          </a:prstGeom>
        </p:spPr>
      </p:pic>
      <p:sp>
        <p:nvSpPr>
          <p:cNvPr id="36" name="Text 28"/>
          <p:cNvSpPr txBox="1"/>
          <p:nvPr/>
        </p:nvSpPr>
        <p:spPr>
          <a:xfrm>
            <a:off x="6263640" y="5349240"/>
            <a:ext cx="2057400" cy="640080"/>
          </a:xfrm>
          <a:prstGeom prst="rect">
            <a:avLst/>
          </a:prstGeom>
          <a:noFill/>
          <a:ln/>
        </p:spPr>
        <p:txBody>
          <a:bodyPr wrap="square" lIns="0" tIns="0" rIns="0" bIns="0" rtlCol="0" anchor="ctr"/>
          <a:lstStyle/>
          <a:p>
            <a:pPr indent="0" marL="0">
              <a:buNone/>
            </a:pPr>
            <a:r>
              <a:rPr lang="en-US" sz="1400" dirty="0">
                <a:solidFill>
                  <a:srgbClr val="10303A"/>
                </a:solidFill>
                <a:latin typeface="Calibri" pitchFamily="34" charset="0"/>
                <a:ea typeface="Calibri" pitchFamily="34" charset="-122"/>
                <a:cs typeface="Calibri" pitchFamily="34" charset="-120"/>
              </a:rPr>
              <a:t>PubChem: reagent data</a:t>
            </a:r>
            <a:endParaRPr lang="en-US" sz="1400" dirty="0"/>
          </a:p>
        </p:txBody>
      </p:sp>
      <p:sp>
        <p:nvSpPr>
          <p:cNvPr id="37" name="external Web search: only with user consent"/>
          <p:cNvSpPr/>
          <p:nvPr/>
        </p:nvSpPr>
        <p:spPr>
          <a:xfrm>
            <a:off x="8595360" y="5349240"/>
            <a:ext cx="2743200" cy="640080"/>
          </a:xfrm>
          <a:prstGeom prst="roundRect">
            <a:avLst>
              <a:gd name="adj" fmla="val 50000"/>
            </a:avLst>
          </a:prstGeom>
          <a:solidFill>
            <a:srgbClr val="FFFFFF"/>
          </a:solidFill>
          <a:ln w="19050">
            <a:solidFill>
              <a:srgbClr val="2FA39B"/>
            </a:solidFill>
            <a:prstDash val="dash"/>
          </a:ln>
        </p:spPr>
      </p:sp>
      <p:pic>
        <p:nvPicPr>
          <p:cNvPr id="38" name="icon FaGlobe" descr="Web search: only with user consent">    </p:cNvPr>
          <p:cNvPicPr>
            <a:picLocks noChangeAspect="1"/>
          </p:cNvPicPr>
          <p:nvPr/>
        </p:nvPicPr>
        <p:blipFill>
          <a:blip r:embed="rId7"/>
          <a:stretch>
            <a:fillRect/>
          </a:stretch>
        </p:blipFill>
        <p:spPr>
          <a:xfrm>
            <a:off x="8796528" y="5532120"/>
            <a:ext cx="274320" cy="274320"/>
          </a:xfrm>
          <a:prstGeom prst="rect">
            <a:avLst/>
          </a:prstGeom>
        </p:spPr>
      </p:pic>
      <p:sp>
        <p:nvSpPr>
          <p:cNvPr id="39" name="Text 30"/>
          <p:cNvSpPr txBox="1"/>
          <p:nvPr/>
        </p:nvSpPr>
        <p:spPr>
          <a:xfrm>
            <a:off x="9189720" y="5349240"/>
            <a:ext cx="2057400" cy="640080"/>
          </a:xfrm>
          <a:prstGeom prst="rect">
            <a:avLst/>
          </a:prstGeom>
          <a:noFill/>
          <a:ln/>
        </p:spPr>
        <p:txBody>
          <a:bodyPr wrap="square" lIns="0" tIns="0" rIns="0" bIns="0" rtlCol="0" anchor="ctr"/>
          <a:lstStyle/>
          <a:p>
            <a:pPr indent="0" marL="0">
              <a:buNone/>
            </a:pPr>
            <a:r>
              <a:rPr lang="en-US" sz="1400" dirty="0">
                <a:solidFill>
                  <a:srgbClr val="10303A"/>
                </a:solidFill>
                <a:latin typeface="Calibri" pitchFamily="34" charset="0"/>
                <a:ea typeface="Calibri" pitchFamily="34" charset="-122"/>
                <a:cs typeface="Calibri" pitchFamily="34" charset="-120"/>
              </a:rPr>
              <a:t>Web search: only with user consent</a:t>
            </a:r>
            <a:endParaRPr lang="en-US" sz="1400" dirty="0"/>
          </a:p>
        </p:txBody>
      </p:sp>
      <p:sp>
        <p:nvSpPr>
          <p:cNvPr id="40" name="services to external connector"/>
          <p:cNvSpPr/>
          <p:nvPr/>
        </p:nvSpPr>
        <p:spPr>
          <a:xfrm>
            <a:off x="7520940" y="5029200"/>
            <a:ext cx="0" cy="320040"/>
          </a:xfrm>
          <a:prstGeom prst="line">
            <a:avLst/>
          </a:prstGeom>
          <a:noFill/>
          <a:ln w="25400">
            <a:solidFill>
              <a:srgbClr val="1D8A8A"/>
            </a:solidFill>
            <a:prstDash val="dash"/>
            <a:headEnd type="triangle"/>
            <a:tailEnd type="triangle"/>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C73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10303A"/>
                </a:solidFill>
                <a:latin typeface="Cambria" pitchFamily="34" charset="0"/>
                <a:ea typeface="Cambria" pitchFamily="34" charset="-122"/>
                <a:cs typeface="Cambria" pitchFamily="34" charset="-120"/>
              </a:rPr>
              <a:t>USP: a Self-RAG that audits its own answers</a:t>
            </a:r>
            <a:endParaRPr lang="en-US" sz="3600" dirty="0"/>
          </a:p>
        </p:txBody>
      </p:sp>
      <p:pic>
        <p:nvPicPr>
          <p:cNvPr id="3" name="spot illustration" descr="Magnifier checking documents">    </p:cNvPr>
          <p:cNvPicPr>
            <a:picLocks noChangeAspect="1"/>
          </p:cNvPicPr>
          <p:nvPr/>
        </p:nvPicPr>
        <p:blipFill>
          <a:blip r:embed="rId1"/>
          <a:stretch>
            <a:fillRect/>
          </a:stretch>
        </p:blipFill>
        <p:spPr>
          <a:xfrm>
            <a:off x="10241280" y="228600"/>
            <a:ext cx="1371600" cy="1371600"/>
          </a:xfrm>
          <a:prstGeom prst="rect">
            <a:avLst/>
          </a:prstGeom>
        </p:spPr>
      </p:pic>
      <p:sp>
        <p:nvSpPr>
          <p:cNvPr id="4" name="step Retrieve"/>
          <p:cNvSpPr/>
          <p:nvPr/>
        </p:nvSpPr>
        <p:spPr>
          <a:xfrm>
            <a:off x="502920" y="1737360"/>
            <a:ext cx="2011680" cy="2514600"/>
          </a:xfrm>
          <a:prstGeom prst="roundRect">
            <a:avLst>
              <a:gd name="adj" fmla="val 8182"/>
            </a:avLst>
          </a:prstGeom>
          <a:solidFill>
            <a:srgbClr val="FFFFFF"/>
          </a:solidFill>
          <a:ln w="12700">
            <a:solidFill>
              <a:srgbClr val="FFFFFF"/>
            </a:solidFill>
            <a:prstDash val="solid"/>
          </a:ln>
          <a:effectLst>
            <a:outerShdw sx="100000" sy="100000" kx="0" ky="0" algn="bl" rotWithShape="0" blurRad="127000" dist="38100" dir="5400000">
              <a:srgbClr val="10303A">
                <a:alpha val="14000"/>
              </a:srgbClr>
            </a:outerShdw>
          </a:effectLst>
        </p:spPr>
      </p:sp>
      <p:sp>
        <p:nvSpPr>
          <p:cNvPr id="5" name="Retrieve badge"/>
          <p:cNvSpPr/>
          <p:nvPr/>
        </p:nvSpPr>
        <p:spPr>
          <a:xfrm>
            <a:off x="1161288" y="1938528"/>
            <a:ext cx="694944" cy="694944"/>
          </a:xfrm>
          <a:prstGeom prst="ellipse">
            <a:avLst/>
          </a:prstGeom>
          <a:solidFill>
            <a:srgbClr val="2FA39B"/>
          </a:solidFill>
          <a:ln w="12700">
            <a:solidFill>
              <a:srgbClr val="2FA39B"/>
            </a:solidFill>
            <a:prstDash val="solid"/>
          </a:ln>
        </p:spPr>
      </p:sp>
      <p:pic>
        <p:nvPicPr>
          <p:cNvPr id="6" name="Retrieve" descr="Retrieve">    </p:cNvPr>
          <p:cNvPicPr>
            <a:picLocks noChangeAspect="1"/>
          </p:cNvPicPr>
          <p:nvPr/>
        </p:nvPicPr>
        <p:blipFill>
          <a:blip r:embed="rId2"/>
          <a:stretch>
            <a:fillRect/>
          </a:stretch>
        </p:blipFill>
        <p:spPr>
          <a:xfrm>
            <a:off x="1335024" y="2112264"/>
            <a:ext cx="347472" cy="347472"/>
          </a:xfrm>
          <a:prstGeom prst="rect">
            <a:avLst/>
          </a:prstGeom>
        </p:spPr>
      </p:pic>
      <p:sp>
        <p:nvSpPr>
          <p:cNvPr id="7" name="chip 1"/>
          <p:cNvSpPr txBox="1"/>
          <p:nvPr/>
        </p:nvSpPr>
        <p:spPr>
          <a:xfrm>
            <a:off x="612648" y="1847088"/>
            <a:ext cx="310896" cy="310896"/>
          </a:xfrm>
          <a:prstGeom prst="roundRect">
            <a:avLst>
              <a:gd name="adj" fmla="val 50000"/>
            </a:avLst>
          </a:prstGeom>
          <a:solidFill>
            <a:srgbClr val="1030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4"/>
          <p:cNvSpPr txBox="1"/>
          <p:nvPr/>
        </p:nvSpPr>
        <p:spPr>
          <a:xfrm>
            <a:off x="594360" y="2743200"/>
            <a:ext cx="1828800" cy="365760"/>
          </a:xfrm>
          <a:prstGeom prst="rect">
            <a:avLst/>
          </a:prstGeom>
          <a:noFill/>
          <a:ln/>
        </p:spPr>
        <p:txBody>
          <a:bodyPr wrap="square" lIns="0" tIns="0" rIns="0" bIns="0" rtlCol="0" anchor="t"/>
          <a:lstStyle/>
          <a:p>
            <a:pPr algn="ctr" indent="0" marL="0">
              <a:buNone/>
            </a:pPr>
            <a:r>
              <a:rPr lang="en-US" sz="2000" b="1" dirty="0">
                <a:solidFill>
                  <a:srgbClr val="10303A"/>
                </a:solidFill>
                <a:latin typeface="Cambria" pitchFamily="34" charset="0"/>
                <a:ea typeface="Cambria" pitchFamily="34" charset="-122"/>
                <a:cs typeface="Cambria" pitchFamily="34" charset="-120"/>
              </a:rPr>
              <a:t>Retrieve</a:t>
            </a:r>
            <a:endParaRPr lang="en-US" sz="2000" dirty="0"/>
          </a:p>
        </p:txBody>
      </p:sp>
      <p:sp>
        <p:nvSpPr>
          <p:cNvPr id="9" name="Text 5"/>
          <p:cNvSpPr txBox="1"/>
          <p:nvPr/>
        </p:nvSpPr>
        <p:spPr>
          <a:xfrm>
            <a:off x="667512" y="3154680"/>
            <a:ext cx="1682496" cy="1051560"/>
          </a:xfrm>
          <a:prstGeom prst="rect">
            <a:avLst/>
          </a:prstGeom>
          <a:noFill/>
          <a:ln/>
        </p:spPr>
        <p:txBody>
          <a:bodyPr wrap="square" lIns="0" tIns="0" rIns="0" bIns="0" rtlCol="0" anchor="t"/>
          <a:lstStyle/>
          <a:p>
            <a:pPr algn="ctr" indent="0" marL="0">
              <a:buNone/>
            </a:pPr>
            <a:r>
              <a:rPr lang="en-US" sz="1400" dirty="0">
                <a:solidFill>
                  <a:srgbClr val="5C7378"/>
                </a:solidFill>
                <a:latin typeface="Calibri" pitchFamily="34" charset="0"/>
                <a:ea typeface="Calibri" pitchFamily="34" charset="-122"/>
                <a:cs typeface="Calibri" pitchFamily="34" charset="-120"/>
              </a:rPr>
              <a:t>Vector + full-text search fused by RRF, locked to the project in SQL</a:t>
            </a:r>
            <a:endParaRPr lang="en-US" sz="1400" dirty="0"/>
          </a:p>
        </p:txBody>
      </p:sp>
      <p:sp>
        <p:nvSpPr>
          <p:cNvPr id="10" name="arrow"/>
          <p:cNvSpPr/>
          <p:nvPr/>
        </p:nvSpPr>
        <p:spPr>
          <a:xfrm>
            <a:off x="2542032" y="2994660"/>
            <a:ext cx="219456" cy="0"/>
          </a:xfrm>
          <a:prstGeom prst="line">
            <a:avLst/>
          </a:prstGeom>
          <a:noFill/>
          <a:ln w="31750">
            <a:solidFill>
              <a:srgbClr val="10303A"/>
            </a:solidFill>
            <a:prstDash val="solid"/>
            <a:tailEnd type="triangle"/>
          </a:ln>
        </p:spPr>
      </p:sp>
      <p:sp>
        <p:nvSpPr>
          <p:cNvPr id="11" name="step Gate"/>
          <p:cNvSpPr/>
          <p:nvPr/>
        </p:nvSpPr>
        <p:spPr>
          <a:xfrm>
            <a:off x="2788920" y="1737360"/>
            <a:ext cx="2011680" cy="2514600"/>
          </a:xfrm>
          <a:prstGeom prst="roundRect">
            <a:avLst>
              <a:gd name="adj" fmla="val 8182"/>
            </a:avLst>
          </a:prstGeom>
          <a:solidFill>
            <a:srgbClr val="FFFFFF"/>
          </a:solidFill>
          <a:ln w="12700">
            <a:solidFill>
              <a:srgbClr val="FFFFFF"/>
            </a:solidFill>
            <a:prstDash val="solid"/>
          </a:ln>
          <a:effectLst>
            <a:outerShdw sx="100000" sy="100000" kx="0" ky="0" algn="bl" rotWithShape="0" blurRad="127000" dist="38100" dir="5400000">
              <a:srgbClr val="10303A">
                <a:alpha val="14000"/>
              </a:srgbClr>
            </a:outerShdw>
          </a:effectLst>
        </p:spPr>
      </p:sp>
      <p:sp>
        <p:nvSpPr>
          <p:cNvPr id="12" name="Gate badge"/>
          <p:cNvSpPr/>
          <p:nvPr/>
        </p:nvSpPr>
        <p:spPr>
          <a:xfrm>
            <a:off x="3447288" y="1938528"/>
            <a:ext cx="694944" cy="694944"/>
          </a:xfrm>
          <a:prstGeom prst="ellipse">
            <a:avLst/>
          </a:prstGeom>
          <a:solidFill>
            <a:srgbClr val="F4C95D"/>
          </a:solidFill>
          <a:ln w="12700">
            <a:solidFill>
              <a:srgbClr val="F4C95D"/>
            </a:solidFill>
            <a:prstDash val="solid"/>
          </a:ln>
        </p:spPr>
      </p:sp>
      <p:pic>
        <p:nvPicPr>
          <p:cNvPr id="13" name="Gate" descr="Gate">    </p:cNvPr>
          <p:cNvPicPr>
            <a:picLocks noChangeAspect="1"/>
          </p:cNvPicPr>
          <p:nvPr/>
        </p:nvPicPr>
        <p:blipFill>
          <a:blip r:embed="rId3"/>
          <a:stretch>
            <a:fillRect/>
          </a:stretch>
        </p:blipFill>
        <p:spPr>
          <a:xfrm>
            <a:off x="3621024" y="2112264"/>
            <a:ext cx="347472" cy="347472"/>
          </a:xfrm>
          <a:prstGeom prst="rect">
            <a:avLst/>
          </a:prstGeom>
        </p:spPr>
      </p:pic>
      <p:sp>
        <p:nvSpPr>
          <p:cNvPr id="14" name="chip 2"/>
          <p:cNvSpPr txBox="1"/>
          <p:nvPr/>
        </p:nvSpPr>
        <p:spPr>
          <a:xfrm>
            <a:off x="2898648" y="1847088"/>
            <a:ext cx="310896" cy="310896"/>
          </a:xfrm>
          <a:prstGeom prst="roundRect">
            <a:avLst>
              <a:gd name="adj" fmla="val 50000"/>
            </a:avLst>
          </a:prstGeom>
          <a:solidFill>
            <a:srgbClr val="1030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0"/>
          <p:cNvSpPr txBox="1"/>
          <p:nvPr/>
        </p:nvSpPr>
        <p:spPr>
          <a:xfrm>
            <a:off x="2880360" y="2743200"/>
            <a:ext cx="1828800" cy="365760"/>
          </a:xfrm>
          <a:prstGeom prst="rect">
            <a:avLst/>
          </a:prstGeom>
          <a:noFill/>
          <a:ln/>
        </p:spPr>
        <p:txBody>
          <a:bodyPr wrap="square" lIns="0" tIns="0" rIns="0" bIns="0" rtlCol="0" anchor="t"/>
          <a:lstStyle/>
          <a:p>
            <a:pPr algn="ctr" indent="0" marL="0">
              <a:buNone/>
            </a:pPr>
            <a:r>
              <a:rPr lang="en-US" sz="2000" b="1" dirty="0">
                <a:solidFill>
                  <a:srgbClr val="10303A"/>
                </a:solidFill>
                <a:latin typeface="Cambria" pitchFamily="34" charset="0"/>
                <a:ea typeface="Cambria" pitchFamily="34" charset="-122"/>
                <a:cs typeface="Cambria" pitchFamily="34" charset="-120"/>
              </a:rPr>
              <a:t>Gate</a:t>
            </a:r>
            <a:endParaRPr lang="en-US" sz="2000" dirty="0"/>
          </a:p>
        </p:txBody>
      </p:sp>
      <p:sp>
        <p:nvSpPr>
          <p:cNvPr id="16" name="Text 11"/>
          <p:cNvSpPr txBox="1"/>
          <p:nvPr/>
        </p:nvSpPr>
        <p:spPr>
          <a:xfrm>
            <a:off x="2953512" y="3154680"/>
            <a:ext cx="1682496" cy="1051560"/>
          </a:xfrm>
          <a:prstGeom prst="rect">
            <a:avLst/>
          </a:prstGeom>
          <a:noFill/>
          <a:ln/>
        </p:spPr>
        <p:txBody>
          <a:bodyPr wrap="square" lIns="0" tIns="0" rIns="0" bIns="0" rtlCol="0" anchor="t"/>
          <a:lstStyle/>
          <a:p>
            <a:pPr algn="ctr" indent="0" marL="0">
              <a:buNone/>
            </a:pPr>
            <a:r>
              <a:rPr lang="en-US" sz="1400" dirty="0">
                <a:solidFill>
                  <a:srgbClr val="5C7378"/>
                </a:solidFill>
                <a:latin typeface="Calibri" pitchFamily="34" charset="0"/>
                <a:ea typeface="Calibri" pitchFamily="34" charset="-122"/>
                <a:cs typeface="Calibri" pitchFamily="34" charset="-120"/>
              </a:rPr>
              <a:t>Too weak a match? No model call is made at all</a:t>
            </a:r>
            <a:endParaRPr lang="en-US" sz="1400" dirty="0"/>
          </a:p>
        </p:txBody>
      </p:sp>
      <p:sp>
        <p:nvSpPr>
          <p:cNvPr id="17" name="arrow"/>
          <p:cNvSpPr/>
          <p:nvPr/>
        </p:nvSpPr>
        <p:spPr>
          <a:xfrm>
            <a:off x="4828032" y="2994660"/>
            <a:ext cx="219456" cy="0"/>
          </a:xfrm>
          <a:prstGeom prst="line">
            <a:avLst/>
          </a:prstGeom>
          <a:noFill/>
          <a:ln w="31750">
            <a:solidFill>
              <a:srgbClr val="10303A"/>
            </a:solidFill>
            <a:prstDash val="solid"/>
            <a:tailEnd type="triangle"/>
          </a:ln>
        </p:spPr>
      </p:sp>
      <p:sp>
        <p:nvSpPr>
          <p:cNvPr id="18" name="step Draft"/>
          <p:cNvSpPr/>
          <p:nvPr/>
        </p:nvSpPr>
        <p:spPr>
          <a:xfrm>
            <a:off x="5074920" y="1737360"/>
            <a:ext cx="2011680" cy="2514600"/>
          </a:xfrm>
          <a:prstGeom prst="roundRect">
            <a:avLst>
              <a:gd name="adj" fmla="val 8182"/>
            </a:avLst>
          </a:prstGeom>
          <a:solidFill>
            <a:srgbClr val="FFFFFF"/>
          </a:solidFill>
          <a:ln w="12700">
            <a:solidFill>
              <a:srgbClr val="FFFFFF"/>
            </a:solidFill>
            <a:prstDash val="solid"/>
          </a:ln>
          <a:effectLst>
            <a:outerShdw sx="100000" sy="100000" kx="0" ky="0" algn="bl" rotWithShape="0" blurRad="127000" dist="38100" dir="5400000">
              <a:srgbClr val="10303A">
                <a:alpha val="14000"/>
              </a:srgbClr>
            </a:outerShdw>
          </a:effectLst>
        </p:spPr>
      </p:sp>
      <p:sp>
        <p:nvSpPr>
          <p:cNvPr id="19" name="Draft badge"/>
          <p:cNvSpPr/>
          <p:nvPr/>
        </p:nvSpPr>
        <p:spPr>
          <a:xfrm>
            <a:off x="5733288" y="1938528"/>
            <a:ext cx="694944" cy="694944"/>
          </a:xfrm>
          <a:prstGeom prst="ellipse">
            <a:avLst/>
          </a:prstGeom>
          <a:solidFill>
            <a:srgbClr val="B9A7EE"/>
          </a:solidFill>
          <a:ln w="12700">
            <a:solidFill>
              <a:srgbClr val="B9A7EE"/>
            </a:solidFill>
            <a:prstDash val="solid"/>
          </a:ln>
        </p:spPr>
      </p:sp>
      <p:pic>
        <p:nvPicPr>
          <p:cNvPr id="20" name="Draft" descr="Draft">    </p:cNvPr>
          <p:cNvPicPr>
            <a:picLocks noChangeAspect="1"/>
          </p:cNvPicPr>
          <p:nvPr/>
        </p:nvPicPr>
        <p:blipFill>
          <a:blip r:embed="rId4"/>
          <a:stretch>
            <a:fillRect/>
          </a:stretch>
        </p:blipFill>
        <p:spPr>
          <a:xfrm>
            <a:off x="5907024" y="2112264"/>
            <a:ext cx="347472" cy="347472"/>
          </a:xfrm>
          <a:prstGeom prst="rect">
            <a:avLst/>
          </a:prstGeom>
        </p:spPr>
      </p:pic>
      <p:sp>
        <p:nvSpPr>
          <p:cNvPr id="21" name="chip 3"/>
          <p:cNvSpPr txBox="1"/>
          <p:nvPr/>
        </p:nvSpPr>
        <p:spPr>
          <a:xfrm>
            <a:off x="5184648" y="1847088"/>
            <a:ext cx="310896" cy="310896"/>
          </a:xfrm>
          <a:prstGeom prst="roundRect">
            <a:avLst>
              <a:gd name="adj" fmla="val 50000"/>
            </a:avLst>
          </a:prstGeom>
          <a:solidFill>
            <a:srgbClr val="1030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16"/>
          <p:cNvSpPr txBox="1"/>
          <p:nvPr/>
        </p:nvSpPr>
        <p:spPr>
          <a:xfrm>
            <a:off x="5166360" y="2743200"/>
            <a:ext cx="1828800" cy="365760"/>
          </a:xfrm>
          <a:prstGeom prst="rect">
            <a:avLst/>
          </a:prstGeom>
          <a:noFill/>
          <a:ln/>
        </p:spPr>
        <p:txBody>
          <a:bodyPr wrap="square" lIns="0" tIns="0" rIns="0" bIns="0" rtlCol="0" anchor="t"/>
          <a:lstStyle/>
          <a:p>
            <a:pPr algn="ctr" indent="0" marL="0">
              <a:buNone/>
            </a:pPr>
            <a:r>
              <a:rPr lang="en-US" sz="2000" b="1" dirty="0">
                <a:solidFill>
                  <a:srgbClr val="10303A"/>
                </a:solidFill>
                <a:latin typeface="Cambria" pitchFamily="34" charset="0"/>
                <a:ea typeface="Cambria" pitchFamily="34" charset="-122"/>
                <a:cs typeface="Cambria" pitchFamily="34" charset="-120"/>
              </a:rPr>
              <a:t>Draft</a:t>
            </a:r>
            <a:endParaRPr lang="en-US" sz="2000" dirty="0"/>
          </a:p>
        </p:txBody>
      </p:sp>
      <p:sp>
        <p:nvSpPr>
          <p:cNvPr id="23" name="Text 17"/>
          <p:cNvSpPr txBox="1"/>
          <p:nvPr/>
        </p:nvSpPr>
        <p:spPr>
          <a:xfrm>
            <a:off x="5239512" y="3154680"/>
            <a:ext cx="1682496" cy="1051560"/>
          </a:xfrm>
          <a:prstGeom prst="rect">
            <a:avLst/>
          </a:prstGeom>
          <a:noFill/>
          <a:ln/>
        </p:spPr>
        <p:txBody>
          <a:bodyPr wrap="square" lIns="0" tIns="0" rIns="0" bIns="0" rtlCol="0" anchor="t"/>
          <a:lstStyle/>
          <a:p>
            <a:pPr algn="ctr" indent="0" marL="0">
              <a:buNone/>
            </a:pPr>
            <a:r>
              <a:rPr lang="en-US" sz="1400" dirty="0">
                <a:solidFill>
                  <a:srgbClr val="5C7378"/>
                </a:solidFill>
                <a:latin typeface="Calibri" pitchFamily="34" charset="0"/>
                <a:ea typeface="Calibri" pitchFamily="34" charset="-122"/>
                <a:cs typeface="Calibri" pitchFamily="34" charset="-120"/>
              </a:rPr>
              <a:t>Model writes typed claims, each citing passage numbers</a:t>
            </a:r>
            <a:endParaRPr lang="en-US" sz="1400" dirty="0"/>
          </a:p>
        </p:txBody>
      </p:sp>
      <p:sp>
        <p:nvSpPr>
          <p:cNvPr id="24" name="arrow"/>
          <p:cNvSpPr/>
          <p:nvPr/>
        </p:nvSpPr>
        <p:spPr>
          <a:xfrm>
            <a:off x="7114032" y="2994660"/>
            <a:ext cx="219456" cy="0"/>
          </a:xfrm>
          <a:prstGeom prst="line">
            <a:avLst/>
          </a:prstGeom>
          <a:noFill/>
          <a:ln w="31750">
            <a:solidFill>
              <a:srgbClr val="10303A"/>
            </a:solidFill>
            <a:prstDash val="solid"/>
            <a:tailEnd type="triangle"/>
          </a:ln>
        </p:spPr>
      </p:sp>
      <p:sp>
        <p:nvSpPr>
          <p:cNvPr id="25" name="step Self-check"/>
          <p:cNvSpPr/>
          <p:nvPr/>
        </p:nvSpPr>
        <p:spPr>
          <a:xfrm>
            <a:off x="7360920" y="1737360"/>
            <a:ext cx="2011680" cy="2514600"/>
          </a:xfrm>
          <a:prstGeom prst="roundRect">
            <a:avLst>
              <a:gd name="adj" fmla="val 8182"/>
            </a:avLst>
          </a:prstGeom>
          <a:solidFill>
            <a:srgbClr val="FFFFFF"/>
          </a:solidFill>
          <a:ln w="12700">
            <a:solidFill>
              <a:srgbClr val="FFFFFF"/>
            </a:solidFill>
            <a:prstDash val="solid"/>
          </a:ln>
          <a:effectLst>
            <a:outerShdw sx="100000" sy="100000" kx="0" ky="0" algn="bl" rotWithShape="0" blurRad="127000" dist="38100" dir="5400000">
              <a:srgbClr val="10303A">
                <a:alpha val="14000"/>
              </a:srgbClr>
            </a:outerShdw>
          </a:effectLst>
        </p:spPr>
      </p:sp>
      <p:sp>
        <p:nvSpPr>
          <p:cNvPr id="26" name="Self-check badge"/>
          <p:cNvSpPr/>
          <p:nvPr/>
        </p:nvSpPr>
        <p:spPr>
          <a:xfrm>
            <a:off x="8019288" y="1938528"/>
            <a:ext cx="694944" cy="694944"/>
          </a:xfrm>
          <a:prstGeom prst="ellipse">
            <a:avLst/>
          </a:prstGeom>
          <a:solidFill>
            <a:srgbClr val="F26B50"/>
          </a:solidFill>
          <a:ln w="12700">
            <a:solidFill>
              <a:srgbClr val="F26B50"/>
            </a:solidFill>
            <a:prstDash val="solid"/>
          </a:ln>
        </p:spPr>
      </p:sp>
      <p:pic>
        <p:nvPicPr>
          <p:cNvPr id="27" name="Self-check" descr="Self-check">    </p:cNvPr>
          <p:cNvPicPr>
            <a:picLocks noChangeAspect="1"/>
          </p:cNvPicPr>
          <p:nvPr/>
        </p:nvPicPr>
        <p:blipFill>
          <a:blip r:embed="rId5"/>
          <a:stretch>
            <a:fillRect/>
          </a:stretch>
        </p:blipFill>
        <p:spPr>
          <a:xfrm>
            <a:off x="8193024" y="2112264"/>
            <a:ext cx="347472" cy="347472"/>
          </a:xfrm>
          <a:prstGeom prst="rect">
            <a:avLst/>
          </a:prstGeom>
        </p:spPr>
      </p:pic>
      <p:sp>
        <p:nvSpPr>
          <p:cNvPr id="28" name="chip 4"/>
          <p:cNvSpPr txBox="1"/>
          <p:nvPr/>
        </p:nvSpPr>
        <p:spPr>
          <a:xfrm>
            <a:off x="7470648" y="1847088"/>
            <a:ext cx="310896" cy="310896"/>
          </a:xfrm>
          <a:prstGeom prst="roundRect">
            <a:avLst>
              <a:gd name="adj" fmla="val 50000"/>
            </a:avLst>
          </a:prstGeom>
          <a:solidFill>
            <a:srgbClr val="1030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9" name="Text 22"/>
          <p:cNvSpPr txBox="1"/>
          <p:nvPr/>
        </p:nvSpPr>
        <p:spPr>
          <a:xfrm>
            <a:off x="7452360" y="2743200"/>
            <a:ext cx="1828800" cy="365760"/>
          </a:xfrm>
          <a:prstGeom prst="rect">
            <a:avLst/>
          </a:prstGeom>
          <a:noFill/>
          <a:ln/>
        </p:spPr>
        <p:txBody>
          <a:bodyPr wrap="square" lIns="0" tIns="0" rIns="0" bIns="0" rtlCol="0" anchor="t"/>
          <a:lstStyle/>
          <a:p>
            <a:pPr algn="ctr" indent="0" marL="0">
              <a:buNone/>
            </a:pPr>
            <a:r>
              <a:rPr lang="en-US" sz="2000" b="1" dirty="0">
                <a:solidFill>
                  <a:srgbClr val="10303A"/>
                </a:solidFill>
                <a:latin typeface="Cambria" pitchFamily="34" charset="0"/>
                <a:ea typeface="Cambria" pitchFamily="34" charset="-122"/>
                <a:cs typeface="Cambria" pitchFamily="34" charset="-120"/>
              </a:rPr>
              <a:t>Self-check</a:t>
            </a:r>
            <a:endParaRPr lang="en-US" sz="2000" dirty="0"/>
          </a:p>
        </p:txBody>
      </p:sp>
      <p:sp>
        <p:nvSpPr>
          <p:cNvPr id="30" name="Text 23"/>
          <p:cNvSpPr txBox="1"/>
          <p:nvPr/>
        </p:nvSpPr>
        <p:spPr>
          <a:xfrm>
            <a:off x="7525512" y="3154680"/>
            <a:ext cx="1682496" cy="1051560"/>
          </a:xfrm>
          <a:prstGeom prst="rect">
            <a:avLst/>
          </a:prstGeom>
          <a:noFill/>
          <a:ln/>
        </p:spPr>
        <p:txBody>
          <a:bodyPr wrap="square" lIns="0" tIns="0" rIns="0" bIns="0" rtlCol="0" anchor="t"/>
          <a:lstStyle/>
          <a:p>
            <a:pPr algn="ctr" indent="0" marL="0">
              <a:buNone/>
            </a:pPr>
            <a:r>
              <a:rPr lang="en-US" sz="1400" dirty="0">
                <a:solidFill>
                  <a:srgbClr val="5C7378"/>
                </a:solidFill>
                <a:latin typeface="Calibri" pitchFamily="34" charset="0"/>
                <a:ea typeface="Calibri" pitchFamily="34" charset="-122"/>
                <a:cs typeface="Calibri" pitchFamily="34" charset="-120"/>
              </a:rPr>
              <a:t>Validator drops any claim whose citations do not hold up</a:t>
            </a:r>
            <a:endParaRPr lang="en-US" sz="1400" dirty="0"/>
          </a:p>
        </p:txBody>
      </p:sp>
      <p:sp>
        <p:nvSpPr>
          <p:cNvPr id="31" name="arrow"/>
          <p:cNvSpPr/>
          <p:nvPr/>
        </p:nvSpPr>
        <p:spPr>
          <a:xfrm>
            <a:off x="9400032" y="2994660"/>
            <a:ext cx="219456" cy="0"/>
          </a:xfrm>
          <a:prstGeom prst="line">
            <a:avLst/>
          </a:prstGeom>
          <a:noFill/>
          <a:ln w="31750">
            <a:solidFill>
              <a:srgbClr val="10303A"/>
            </a:solidFill>
            <a:prstDash val="solid"/>
            <a:tailEnd type="triangle"/>
          </a:ln>
        </p:spPr>
      </p:sp>
      <p:sp>
        <p:nvSpPr>
          <p:cNvPr id="32" name="step Render"/>
          <p:cNvSpPr/>
          <p:nvPr/>
        </p:nvSpPr>
        <p:spPr>
          <a:xfrm>
            <a:off x="9646920" y="1737360"/>
            <a:ext cx="2011680" cy="2514600"/>
          </a:xfrm>
          <a:prstGeom prst="roundRect">
            <a:avLst>
              <a:gd name="adj" fmla="val 8182"/>
            </a:avLst>
          </a:prstGeom>
          <a:solidFill>
            <a:srgbClr val="FFFFFF"/>
          </a:solidFill>
          <a:ln w="12700">
            <a:solidFill>
              <a:srgbClr val="FFFFFF"/>
            </a:solidFill>
            <a:prstDash val="solid"/>
          </a:ln>
          <a:effectLst>
            <a:outerShdw sx="100000" sy="100000" kx="0" ky="0" algn="bl" rotWithShape="0" blurRad="127000" dist="38100" dir="5400000">
              <a:srgbClr val="10303A">
                <a:alpha val="14000"/>
              </a:srgbClr>
            </a:outerShdw>
          </a:effectLst>
        </p:spPr>
      </p:sp>
      <p:sp>
        <p:nvSpPr>
          <p:cNvPr id="33" name="Render badge"/>
          <p:cNvSpPr/>
          <p:nvPr/>
        </p:nvSpPr>
        <p:spPr>
          <a:xfrm>
            <a:off x="10305288" y="1938528"/>
            <a:ext cx="694944" cy="694944"/>
          </a:xfrm>
          <a:prstGeom prst="ellipse">
            <a:avLst/>
          </a:prstGeom>
          <a:solidFill>
            <a:srgbClr val="1D8A8A"/>
          </a:solidFill>
          <a:ln w="12700">
            <a:solidFill>
              <a:srgbClr val="1D8A8A"/>
            </a:solidFill>
            <a:prstDash val="solid"/>
          </a:ln>
        </p:spPr>
      </p:sp>
      <p:pic>
        <p:nvPicPr>
          <p:cNvPr id="34" name="Render" descr="Render">    </p:cNvPr>
          <p:cNvPicPr>
            <a:picLocks noChangeAspect="1"/>
          </p:cNvPicPr>
          <p:nvPr/>
        </p:nvPicPr>
        <p:blipFill>
          <a:blip r:embed="rId6"/>
          <a:stretch>
            <a:fillRect/>
          </a:stretch>
        </p:blipFill>
        <p:spPr>
          <a:xfrm>
            <a:off x="10479024" y="2112264"/>
            <a:ext cx="347472" cy="347472"/>
          </a:xfrm>
          <a:prstGeom prst="rect">
            <a:avLst/>
          </a:prstGeom>
        </p:spPr>
      </p:pic>
      <p:sp>
        <p:nvSpPr>
          <p:cNvPr id="35" name="chip 5"/>
          <p:cNvSpPr txBox="1"/>
          <p:nvPr/>
        </p:nvSpPr>
        <p:spPr>
          <a:xfrm>
            <a:off x="9756648" y="1847088"/>
            <a:ext cx="310896" cy="310896"/>
          </a:xfrm>
          <a:prstGeom prst="roundRect">
            <a:avLst>
              <a:gd name="adj" fmla="val 50000"/>
            </a:avLst>
          </a:prstGeom>
          <a:solidFill>
            <a:srgbClr val="1030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6" name="Text 28"/>
          <p:cNvSpPr txBox="1"/>
          <p:nvPr/>
        </p:nvSpPr>
        <p:spPr>
          <a:xfrm>
            <a:off x="9738360" y="2743200"/>
            <a:ext cx="1828800" cy="365760"/>
          </a:xfrm>
          <a:prstGeom prst="rect">
            <a:avLst/>
          </a:prstGeom>
          <a:noFill/>
          <a:ln/>
        </p:spPr>
        <p:txBody>
          <a:bodyPr wrap="square" lIns="0" tIns="0" rIns="0" bIns="0" rtlCol="0" anchor="t"/>
          <a:lstStyle/>
          <a:p>
            <a:pPr algn="ctr" indent="0" marL="0">
              <a:buNone/>
            </a:pPr>
            <a:r>
              <a:rPr lang="en-US" sz="2000" b="1" dirty="0">
                <a:solidFill>
                  <a:srgbClr val="10303A"/>
                </a:solidFill>
                <a:latin typeface="Cambria" pitchFamily="34" charset="0"/>
                <a:ea typeface="Cambria" pitchFamily="34" charset="-122"/>
                <a:cs typeface="Cambria" pitchFamily="34" charset="-120"/>
              </a:rPr>
              <a:t>Render</a:t>
            </a:r>
            <a:endParaRPr lang="en-US" sz="2000" dirty="0"/>
          </a:p>
        </p:txBody>
      </p:sp>
      <p:sp>
        <p:nvSpPr>
          <p:cNvPr id="37" name="Text 29"/>
          <p:cNvSpPr txBox="1"/>
          <p:nvPr/>
        </p:nvSpPr>
        <p:spPr>
          <a:xfrm>
            <a:off x="9811512" y="3154680"/>
            <a:ext cx="1682496" cy="1051560"/>
          </a:xfrm>
          <a:prstGeom prst="rect">
            <a:avLst/>
          </a:prstGeom>
          <a:noFill/>
          <a:ln/>
        </p:spPr>
        <p:txBody>
          <a:bodyPr wrap="square" lIns="0" tIns="0" rIns="0" bIns="0" rtlCol="0" anchor="t"/>
          <a:lstStyle/>
          <a:p>
            <a:pPr algn="ctr" indent="0" marL="0">
              <a:buNone/>
            </a:pPr>
            <a:r>
              <a:rPr lang="en-US" sz="1400" dirty="0">
                <a:solidFill>
                  <a:srgbClr val="5C7378"/>
                </a:solidFill>
                <a:latin typeface="Calibri" pitchFamily="34" charset="0"/>
                <a:ea typeface="Calibri" pitchFamily="34" charset="-122"/>
                <a:cs typeface="Calibri" pitchFamily="34" charset="-120"/>
              </a:rPr>
              <a:t>Server writes the answer from validated claims only</a:t>
            </a:r>
            <a:endParaRPr lang="en-US" sz="1400" dirty="0"/>
          </a:p>
        </p:txBody>
      </p:sp>
      <p:sp>
        <p:nvSpPr>
          <p:cNvPr id="38" name="fallback panel"/>
          <p:cNvSpPr/>
          <p:nvPr/>
        </p:nvSpPr>
        <p:spPr>
          <a:xfrm>
            <a:off x="502920" y="4572000"/>
            <a:ext cx="5532120" cy="1691640"/>
          </a:xfrm>
          <a:prstGeom prst="roundRect">
            <a:avLst>
              <a:gd name="adj" fmla="val 9730"/>
            </a:avLst>
          </a:prstGeom>
          <a:solidFill>
            <a:srgbClr val="FFD9CF"/>
          </a:solidFill>
          <a:ln w="12700">
            <a:solidFill>
              <a:srgbClr val="FFD9CF"/>
            </a:solidFill>
            <a:prstDash val="solid"/>
          </a:ln>
        </p:spPr>
      </p:sp>
      <p:sp>
        <p:nvSpPr>
          <p:cNvPr id="39" name="Corrective path badge"/>
          <p:cNvSpPr/>
          <p:nvPr/>
        </p:nvSpPr>
        <p:spPr>
          <a:xfrm>
            <a:off x="731520" y="4754880"/>
            <a:ext cx="548640" cy="548640"/>
          </a:xfrm>
          <a:prstGeom prst="ellipse">
            <a:avLst/>
          </a:prstGeom>
          <a:solidFill>
            <a:srgbClr val="F26B50"/>
          </a:solidFill>
          <a:ln w="12700">
            <a:solidFill>
              <a:srgbClr val="F26B50"/>
            </a:solidFill>
            <a:prstDash val="solid"/>
          </a:ln>
        </p:spPr>
      </p:sp>
      <p:pic>
        <p:nvPicPr>
          <p:cNvPr id="40" name="Corrective path" descr="Corrective path">    </p:cNvPr>
          <p:cNvPicPr>
            <a:picLocks noChangeAspect="1"/>
          </p:cNvPicPr>
          <p:nvPr/>
        </p:nvPicPr>
        <p:blipFill>
          <a:blip r:embed="rId7"/>
          <a:stretch>
            <a:fillRect/>
          </a:stretch>
        </p:blipFill>
        <p:spPr>
          <a:xfrm>
            <a:off x="868680" y="4892040"/>
            <a:ext cx="274320" cy="274320"/>
          </a:xfrm>
          <a:prstGeom prst="rect">
            <a:avLst/>
          </a:prstGeom>
        </p:spPr>
      </p:pic>
      <p:sp>
        <p:nvSpPr>
          <p:cNvPr id="41" name="Text 32"/>
          <p:cNvSpPr txBox="1"/>
          <p:nvPr/>
        </p:nvSpPr>
        <p:spPr>
          <a:xfrm>
            <a:off x="1463040" y="4800600"/>
            <a:ext cx="4389120" cy="457200"/>
          </a:xfrm>
          <a:prstGeom prst="rect">
            <a:avLst/>
          </a:prstGeom>
          <a:noFill/>
          <a:ln/>
        </p:spPr>
        <p:txBody>
          <a:bodyPr wrap="square" lIns="0" tIns="0" rIns="0" bIns="0" rtlCol="0" anchor="ctr"/>
          <a:lstStyle/>
          <a:p>
            <a:pPr indent="0" marL="0">
              <a:buNone/>
            </a:pPr>
            <a:r>
              <a:rPr lang="en-US" sz="2000" b="1" dirty="0">
                <a:solidFill>
                  <a:srgbClr val="10303A"/>
                </a:solidFill>
                <a:latin typeface="Cambria" pitchFamily="34" charset="0"/>
                <a:ea typeface="Cambria" pitchFamily="34" charset="-122"/>
                <a:cs typeface="Cambria" pitchFamily="34" charset="-120"/>
              </a:rPr>
              <a:t>Corrective fallback</a:t>
            </a:r>
            <a:endParaRPr lang="en-US" sz="2000" dirty="0"/>
          </a:p>
        </p:txBody>
      </p:sp>
      <p:sp>
        <p:nvSpPr>
          <p:cNvPr id="42" name="Text 33"/>
          <p:cNvSpPr txBox="1"/>
          <p:nvPr/>
        </p:nvSpPr>
        <p:spPr>
          <a:xfrm>
            <a:off x="731520" y="5394960"/>
            <a:ext cx="5074920" cy="822960"/>
          </a:xfrm>
          <a:prstGeom prst="rect">
            <a:avLst/>
          </a:prstGeom>
          <a:noFill/>
          <a:ln/>
        </p:spPr>
        <p:txBody>
          <a:bodyPr wrap="square" lIns="0" tIns="0" rIns="0" bIns="0" rtlCol="0" anchor="t"/>
          <a:lstStyle/>
          <a:p>
            <a:pPr indent="0" marL="0">
              <a:buNone/>
            </a:pPr>
            <a:r>
              <a:rPr lang="en-US" sz="1400" dirty="0">
                <a:solidFill>
                  <a:srgbClr val="10303A"/>
                </a:solidFill>
                <a:latin typeface="Calibri" pitchFamily="34" charset="0"/>
                <a:ea typeface="Calibri" pitchFamily="34" charset="-122"/>
                <a:cs typeface="Calibri" pitchFamily="34" charset="-120"/>
              </a:rPr>
              <a:t>Nothing validated? The answer is “insufficient”, never a guess. External search starts only after the user allows it, and is labelled unverified.</a:t>
            </a:r>
            <a:endParaRPr lang="en-US" sz="1400" dirty="0"/>
          </a:p>
        </p:txBody>
      </p:sp>
      <p:sp>
        <p:nvSpPr>
          <p:cNvPr id="43" name="mapping panel"/>
          <p:cNvSpPr/>
          <p:nvPr/>
        </p:nvSpPr>
        <p:spPr>
          <a:xfrm>
            <a:off x="6217920" y="4572000"/>
            <a:ext cx="5440680" cy="1691640"/>
          </a:xfrm>
          <a:prstGeom prst="roundRect">
            <a:avLst>
              <a:gd name="adj" fmla="val 9730"/>
            </a:avLst>
          </a:prstGeom>
          <a:solidFill>
            <a:srgbClr val="10303A"/>
          </a:solidFill>
          <a:ln w="12700">
            <a:solidFill>
              <a:srgbClr val="10303A"/>
            </a:solidFill>
            <a:prstDash val="solid"/>
          </a:ln>
        </p:spPr>
      </p:sp>
      <p:sp>
        <p:nvSpPr>
          <p:cNvPr id="44" name="Text 35"/>
          <p:cNvSpPr txBox="1"/>
          <p:nvPr/>
        </p:nvSpPr>
        <p:spPr>
          <a:xfrm>
            <a:off x="6446520" y="4709160"/>
            <a:ext cx="502920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Self-RAG, made rule-based</a:t>
            </a:r>
            <a:endParaRPr lang="en-US" sz="2000" dirty="0"/>
          </a:p>
        </p:txBody>
      </p:sp>
      <p:sp>
        <p:nvSpPr>
          <p:cNvPr id="45" name="chip Retrieve?"/>
          <p:cNvSpPr txBox="1"/>
          <p:nvPr/>
        </p:nvSpPr>
        <p:spPr>
          <a:xfrm>
            <a:off x="6446520" y="5184648"/>
            <a:ext cx="1143000" cy="274320"/>
          </a:xfrm>
          <a:prstGeom prst="roundRect">
            <a:avLst>
              <a:gd name="adj" fmla="val 50000"/>
            </a:avLst>
          </a:prstGeom>
          <a:solidFill>
            <a:srgbClr val="F4C95D"/>
          </a:solidFill>
          <a:ln/>
        </p:spPr>
        <p:txBody>
          <a:bodyPr wrap="square" lIns="0" tIns="0" rIns="0" bIns="0" rtlCol="0" anchor="ctr"/>
          <a:lstStyle/>
          <a:p>
            <a:pPr algn="ctr" indent="0" marL="0">
              <a:buNone/>
            </a:pPr>
            <a:r>
              <a:rPr lang="en-US" sz="1200" b="1" dirty="0">
                <a:solidFill>
                  <a:srgbClr val="10303A"/>
                </a:solidFill>
                <a:latin typeface="Calibri" pitchFamily="34" charset="0"/>
                <a:ea typeface="Calibri" pitchFamily="34" charset="-122"/>
                <a:cs typeface="Calibri" pitchFamily="34" charset="-120"/>
              </a:rPr>
              <a:t>Retrieve?</a:t>
            </a:r>
            <a:endParaRPr lang="en-US" sz="1200" dirty="0"/>
          </a:p>
        </p:txBody>
      </p:sp>
      <p:sp>
        <p:nvSpPr>
          <p:cNvPr id="46" name="Text 37"/>
          <p:cNvSpPr txBox="1"/>
          <p:nvPr/>
        </p:nvSpPr>
        <p:spPr>
          <a:xfrm>
            <a:off x="7726680" y="5184648"/>
            <a:ext cx="3840480" cy="2743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gate runs before any model call</a:t>
            </a:r>
            <a:endParaRPr lang="en-US" sz="1400" dirty="0"/>
          </a:p>
        </p:txBody>
      </p:sp>
      <p:sp>
        <p:nvSpPr>
          <p:cNvPr id="47" name="chip Relevant?"/>
          <p:cNvSpPr txBox="1"/>
          <p:nvPr/>
        </p:nvSpPr>
        <p:spPr>
          <a:xfrm>
            <a:off x="6446520" y="5522976"/>
            <a:ext cx="1143000" cy="274320"/>
          </a:xfrm>
          <a:prstGeom prst="roundRect">
            <a:avLst>
              <a:gd name="adj" fmla="val 50000"/>
            </a:avLst>
          </a:prstGeom>
          <a:solidFill>
            <a:srgbClr val="F4C95D"/>
          </a:solidFill>
          <a:ln/>
        </p:spPr>
        <p:txBody>
          <a:bodyPr wrap="square" lIns="0" tIns="0" rIns="0" bIns="0" rtlCol="0" anchor="ctr"/>
          <a:lstStyle/>
          <a:p>
            <a:pPr algn="ctr" indent="0" marL="0">
              <a:buNone/>
            </a:pPr>
            <a:r>
              <a:rPr lang="en-US" sz="1200" b="1" dirty="0">
                <a:solidFill>
                  <a:srgbClr val="10303A"/>
                </a:solidFill>
                <a:latin typeface="Calibri" pitchFamily="34" charset="0"/>
                <a:ea typeface="Calibri" pitchFamily="34" charset="-122"/>
                <a:cs typeface="Calibri" pitchFamily="34" charset="-120"/>
              </a:rPr>
              <a:t>Relevant?</a:t>
            </a:r>
            <a:endParaRPr lang="en-US" sz="1200" dirty="0"/>
          </a:p>
        </p:txBody>
      </p:sp>
      <p:sp>
        <p:nvSpPr>
          <p:cNvPr id="48" name="Text 39"/>
          <p:cNvSpPr txBox="1"/>
          <p:nvPr/>
        </p:nvSpPr>
        <p:spPr>
          <a:xfrm>
            <a:off x="7726680" y="5522976"/>
            <a:ext cx="3840480" cy="2743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cosine or lexical-coverage threshold</a:t>
            </a:r>
            <a:endParaRPr lang="en-US" sz="1400" dirty="0"/>
          </a:p>
        </p:txBody>
      </p:sp>
      <p:sp>
        <p:nvSpPr>
          <p:cNvPr id="49" name="chip Supported?"/>
          <p:cNvSpPr txBox="1"/>
          <p:nvPr/>
        </p:nvSpPr>
        <p:spPr>
          <a:xfrm>
            <a:off x="6446520" y="5861304"/>
            <a:ext cx="1143000" cy="274320"/>
          </a:xfrm>
          <a:prstGeom prst="roundRect">
            <a:avLst>
              <a:gd name="adj" fmla="val 50000"/>
            </a:avLst>
          </a:prstGeom>
          <a:solidFill>
            <a:srgbClr val="F4C95D"/>
          </a:solidFill>
          <a:ln/>
        </p:spPr>
        <p:txBody>
          <a:bodyPr wrap="square" lIns="0" tIns="0" rIns="0" bIns="0" rtlCol="0" anchor="ctr"/>
          <a:lstStyle/>
          <a:p>
            <a:pPr algn="ctr" indent="0" marL="0">
              <a:buNone/>
            </a:pPr>
            <a:r>
              <a:rPr lang="en-US" sz="1200" b="1" dirty="0">
                <a:solidFill>
                  <a:srgbClr val="10303A"/>
                </a:solidFill>
                <a:latin typeface="Calibri" pitchFamily="34" charset="0"/>
                <a:ea typeface="Calibri" pitchFamily="34" charset="-122"/>
                <a:cs typeface="Calibri" pitchFamily="34" charset="-120"/>
              </a:rPr>
              <a:t>Supported?</a:t>
            </a:r>
            <a:endParaRPr lang="en-US" sz="1200" dirty="0"/>
          </a:p>
        </p:txBody>
      </p:sp>
      <p:sp>
        <p:nvSpPr>
          <p:cNvPr id="50" name="Text 41"/>
          <p:cNvSpPr txBox="1"/>
          <p:nvPr/>
        </p:nvSpPr>
        <p:spPr>
          <a:xfrm>
            <a:off x="7726680" y="5861304"/>
            <a:ext cx="3840480" cy="2743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citation, number, word and quote checks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C73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10303A"/>
                </a:solidFill>
                <a:latin typeface="Cambria" pitchFamily="34" charset="0"/>
                <a:ea typeface="Cambria" pitchFamily="34" charset="-122"/>
                <a:cs typeface="Cambria" pitchFamily="34" charset="-120"/>
              </a:rPr>
              <a:t>What the self-check enforces</a:t>
            </a:r>
            <a:endParaRPr lang="en-US" sz="3600" dirty="0"/>
          </a:p>
        </p:txBody>
      </p:sp>
      <p:sp>
        <p:nvSpPr>
          <p:cNvPr id="3" name="answer mock"/>
          <p:cNvSpPr/>
          <p:nvPr/>
        </p:nvSpPr>
        <p:spPr>
          <a:xfrm>
            <a:off x="502920" y="1371600"/>
            <a:ext cx="5760720" cy="4846320"/>
          </a:xfrm>
          <a:prstGeom prst="roundRect">
            <a:avLst>
              <a:gd name="adj" fmla="val 3396"/>
            </a:avLst>
          </a:prstGeom>
          <a:solidFill>
            <a:srgbClr val="FFFFFF"/>
          </a:solidFill>
          <a:ln w="12700">
            <a:solidFill>
              <a:srgbClr val="FFFFFF"/>
            </a:solidFill>
            <a:prstDash val="solid"/>
          </a:ln>
          <a:effectLst>
            <a:outerShdw sx="100000" sy="100000" kx="0" ky="0" algn="bl" rotWithShape="0" blurRad="127000" dist="38100" dir="5400000">
              <a:srgbClr val="10303A">
                <a:alpha val="14000"/>
              </a:srgbClr>
            </a:outerShdw>
          </a:effectLst>
        </p:spPr>
      </p:sp>
      <p:sp>
        <p:nvSpPr>
          <p:cNvPr id="4" name="Text 2"/>
          <p:cNvSpPr txBox="1"/>
          <p:nvPr/>
        </p:nvSpPr>
        <p:spPr>
          <a:xfrm>
            <a:off x="777240" y="1536192"/>
            <a:ext cx="5212080" cy="274320"/>
          </a:xfrm>
          <a:prstGeom prst="rect">
            <a:avLst/>
          </a:prstGeom>
          <a:noFill/>
          <a:ln/>
        </p:spPr>
        <p:txBody>
          <a:bodyPr wrap="square" lIns="0" tIns="0" rIns="0" bIns="0" rtlCol="0" anchor="t"/>
          <a:lstStyle/>
          <a:p>
            <a:pPr indent="0" marL="0">
              <a:buNone/>
            </a:pPr>
            <a:r>
              <a:rPr lang="en-US" sz="1200" i="1" dirty="0">
                <a:solidFill>
                  <a:srgbClr val="5C7378"/>
                </a:solidFill>
                <a:latin typeface="Calibri" pitchFamily="34" charset="0"/>
                <a:ea typeface="Calibri" pitchFamily="34" charset="-122"/>
                <a:cs typeface="Calibri" pitchFamily="34" charset="-120"/>
              </a:rPr>
              <a:t>Illustrative answer, built only from validated claims</a:t>
            </a:r>
            <a:endParaRPr lang="en-US" sz="1200" dirty="0"/>
          </a:p>
        </p:txBody>
      </p:sp>
      <p:sp>
        <p:nvSpPr>
          <p:cNvPr id="5" name="chip OBSERVED"/>
          <p:cNvSpPr txBox="1"/>
          <p:nvPr/>
        </p:nvSpPr>
        <p:spPr>
          <a:xfrm>
            <a:off x="777240" y="2130552"/>
            <a:ext cx="1691640" cy="310896"/>
          </a:xfrm>
          <a:prstGeom prst="roundRect">
            <a:avLst>
              <a:gd name="adj" fmla="val 50000"/>
            </a:avLst>
          </a:prstGeom>
          <a:solidFill>
            <a:srgbClr val="1D8A8A"/>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OBSERVED</a:t>
            </a:r>
            <a:endParaRPr lang="en-US" sz="1100" dirty="0"/>
          </a:p>
        </p:txBody>
      </p:sp>
      <p:sp>
        <p:nvSpPr>
          <p:cNvPr id="6" name="Text 4"/>
          <p:cNvSpPr txBox="1"/>
          <p:nvPr/>
        </p:nvSpPr>
        <p:spPr>
          <a:xfrm>
            <a:off x="2651760" y="1920240"/>
            <a:ext cx="3429000" cy="731520"/>
          </a:xfrm>
          <a:prstGeom prst="rect">
            <a:avLst/>
          </a:prstGeom>
          <a:noFill/>
          <a:ln/>
        </p:spPr>
        <p:txBody>
          <a:bodyPr wrap="square" lIns="0" tIns="0" rIns="0" bIns="0" rtlCol="0" anchor="ctr"/>
          <a:lstStyle/>
          <a:p>
            <a:pPr indent="0" marL="0">
              <a:buNone/>
            </a:pPr>
            <a:r>
              <a:rPr lang="en-US" sz="1400" dirty="0">
                <a:solidFill>
                  <a:srgbClr val="10303A"/>
                </a:solidFill>
                <a:latin typeface="Calibri" pitchFamily="34" charset="0"/>
                <a:ea typeface="Calibri" pitchFamily="34" charset="-122"/>
                <a:cs typeface="Calibri" pitchFamily="34" charset="-120"/>
              </a:rPr>
              <a:t>Slope was 94% on the last run and the buffers were in date. [1]</a:t>
            </a:r>
            <a:endParaRPr lang="en-US" sz="1400" dirty="0"/>
          </a:p>
        </p:txBody>
      </p:sp>
      <p:sp>
        <p:nvSpPr>
          <p:cNvPr id="7" name="chip INTERPRETATION"/>
          <p:cNvSpPr txBox="1"/>
          <p:nvPr/>
        </p:nvSpPr>
        <p:spPr>
          <a:xfrm>
            <a:off x="777240" y="2971800"/>
            <a:ext cx="1691640" cy="310896"/>
          </a:xfrm>
          <a:prstGeom prst="roundRect">
            <a:avLst>
              <a:gd name="adj" fmla="val 50000"/>
            </a:avLst>
          </a:prstGeom>
          <a:solidFill>
            <a:srgbClr val="B9A7EE"/>
          </a:solidFill>
          <a:ln/>
        </p:spPr>
        <p:txBody>
          <a:bodyPr wrap="square" lIns="0" tIns="0" rIns="0" bIns="0" rtlCol="0" anchor="ctr"/>
          <a:lstStyle/>
          <a:p>
            <a:pPr algn="ctr" indent="0" marL="0">
              <a:buNone/>
            </a:pPr>
            <a:r>
              <a:rPr lang="en-US" sz="1100" b="1" dirty="0">
                <a:solidFill>
                  <a:srgbClr val="10303A"/>
                </a:solidFill>
                <a:latin typeface="Calibri" pitchFamily="34" charset="0"/>
                <a:ea typeface="Calibri" pitchFamily="34" charset="-122"/>
                <a:cs typeface="Calibri" pitchFamily="34" charset="-120"/>
              </a:rPr>
              <a:t>INTERPRETATION</a:t>
            </a:r>
            <a:endParaRPr lang="en-US" sz="1100" dirty="0"/>
          </a:p>
        </p:txBody>
      </p:sp>
      <p:sp>
        <p:nvSpPr>
          <p:cNvPr id="8" name="Text 6"/>
          <p:cNvSpPr txBox="1"/>
          <p:nvPr/>
        </p:nvSpPr>
        <p:spPr>
          <a:xfrm>
            <a:off x="2651760" y="2761488"/>
            <a:ext cx="3429000" cy="731520"/>
          </a:xfrm>
          <a:prstGeom prst="rect">
            <a:avLst/>
          </a:prstGeom>
          <a:noFill/>
          <a:ln/>
        </p:spPr>
        <p:txBody>
          <a:bodyPr wrap="square" lIns="0" tIns="0" rIns="0" bIns="0" rtlCol="0" anchor="ctr"/>
          <a:lstStyle/>
          <a:p>
            <a:pPr indent="0" marL="0">
              <a:buNone/>
            </a:pPr>
            <a:r>
              <a:rPr lang="en-US" sz="1400" dirty="0">
                <a:solidFill>
                  <a:srgbClr val="10303A"/>
                </a:solidFill>
                <a:latin typeface="Calibri" pitchFamily="34" charset="0"/>
                <a:ea typeface="Calibri" pitchFamily="34" charset="-122"/>
                <a:cs typeface="Calibri" pitchFamily="34" charset="-120"/>
              </a:rPr>
              <a:t>The electrode may be ageing; compare with earlier runs. [2]</a:t>
            </a:r>
            <a:endParaRPr lang="en-US" sz="1400" dirty="0"/>
          </a:p>
        </p:txBody>
      </p:sp>
      <p:sp>
        <p:nvSpPr>
          <p:cNvPr id="9" name="chip HYPOTHESIS"/>
          <p:cNvSpPr txBox="1"/>
          <p:nvPr/>
        </p:nvSpPr>
        <p:spPr>
          <a:xfrm>
            <a:off x="777240" y="3813048"/>
            <a:ext cx="1691640" cy="310896"/>
          </a:xfrm>
          <a:prstGeom prst="roundRect">
            <a:avLst>
              <a:gd name="adj" fmla="val 50000"/>
            </a:avLst>
          </a:prstGeom>
          <a:solidFill>
            <a:srgbClr val="F4C95D"/>
          </a:solidFill>
          <a:ln/>
        </p:spPr>
        <p:txBody>
          <a:bodyPr wrap="square" lIns="0" tIns="0" rIns="0" bIns="0" rtlCol="0" anchor="ctr"/>
          <a:lstStyle/>
          <a:p>
            <a:pPr algn="ctr" indent="0" marL="0">
              <a:buNone/>
            </a:pPr>
            <a:r>
              <a:rPr lang="en-US" sz="1100" b="1" dirty="0">
                <a:solidFill>
                  <a:srgbClr val="10303A"/>
                </a:solidFill>
                <a:latin typeface="Calibri" pitchFamily="34" charset="0"/>
                <a:ea typeface="Calibri" pitchFamily="34" charset="-122"/>
                <a:cs typeface="Calibri" pitchFamily="34" charset="-120"/>
              </a:rPr>
              <a:t>HYPOTHESIS</a:t>
            </a:r>
            <a:endParaRPr lang="en-US" sz="1100" dirty="0"/>
          </a:p>
        </p:txBody>
      </p:sp>
      <p:sp>
        <p:nvSpPr>
          <p:cNvPr id="10" name="Text 8"/>
          <p:cNvSpPr txBox="1"/>
          <p:nvPr/>
        </p:nvSpPr>
        <p:spPr>
          <a:xfrm>
            <a:off x="2651760" y="3602736"/>
            <a:ext cx="3429000" cy="731520"/>
          </a:xfrm>
          <a:prstGeom prst="rect">
            <a:avLst/>
          </a:prstGeom>
          <a:noFill/>
          <a:ln/>
        </p:spPr>
        <p:txBody>
          <a:bodyPr wrap="square" lIns="0" tIns="0" rIns="0" bIns="0" rtlCol="0" anchor="ctr"/>
          <a:lstStyle/>
          <a:p>
            <a:pPr indent="0" marL="0">
              <a:buNone/>
            </a:pPr>
            <a:r>
              <a:rPr lang="en-US" sz="1400" dirty="0">
                <a:solidFill>
                  <a:srgbClr val="10303A"/>
                </a:solidFill>
                <a:latin typeface="Calibri" pitchFamily="34" charset="0"/>
                <a:ea typeface="Calibri" pitchFamily="34" charset="-122"/>
                <a:cs typeface="Calibri" pitchFamily="34" charset="-120"/>
              </a:rPr>
              <a:t>NOT verified: a contaminated rinse could explain the drift.</a:t>
            </a:r>
            <a:endParaRPr lang="en-US" sz="1400" dirty="0"/>
          </a:p>
        </p:txBody>
      </p:sp>
      <p:sp>
        <p:nvSpPr>
          <p:cNvPr id="11" name="chip NOT ESTABLISHED"/>
          <p:cNvSpPr txBox="1"/>
          <p:nvPr/>
        </p:nvSpPr>
        <p:spPr>
          <a:xfrm>
            <a:off x="777240" y="4654296"/>
            <a:ext cx="1691640" cy="310896"/>
          </a:xfrm>
          <a:prstGeom prst="roundRect">
            <a:avLst>
              <a:gd name="adj" fmla="val 50000"/>
            </a:avLst>
          </a:prstGeom>
          <a:solidFill>
            <a:srgbClr val="5C7378"/>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 ESTABLISHED</a:t>
            </a:r>
            <a:endParaRPr lang="en-US" sz="1100" dirty="0"/>
          </a:p>
        </p:txBody>
      </p:sp>
      <p:sp>
        <p:nvSpPr>
          <p:cNvPr id="12" name="Text 10"/>
          <p:cNvSpPr txBox="1"/>
          <p:nvPr/>
        </p:nvSpPr>
        <p:spPr>
          <a:xfrm>
            <a:off x="2651760" y="4443984"/>
            <a:ext cx="3429000" cy="731520"/>
          </a:xfrm>
          <a:prstGeom prst="rect">
            <a:avLst/>
          </a:prstGeom>
          <a:noFill/>
          <a:ln/>
        </p:spPr>
        <p:txBody>
          <a:bodyPr wrap="square" lIns="0" tIns="0" rIns="0" bIns="0" rtlCol="0" anchor="ctr"/>
          <a:lstStyle/>
          <a:p>
            <a:pPr indent="0" marL="0">
              <a:buNone/>
            </a:pPr>
            <a:r>
              <a:rPr lang="en-US" sz="1400" dirty="0">
                <a:solidFill>
                  <a:srgbClr val="10303A"/>
                </a:solidFill>
                <a:latin typeface="Calibri" pitchFamily="34" charset="0"/>
                <a:ea typeface="Calibri" pitchFamily="34" charset="-122"/>
                <a:cs typeface="Calibri" pitchFamily="34" charset="-120"/>
              </a:rPr>
              <a:t>No document states the cause of the pH offset.</a:t>
            </a:r>
            <a:endParaRPr lang="en-US" sz="1400" dirty="0"/>
          </a:p>
        </p:txBody>
      </p:sp>
      <p:sp>
        <p:nvSpPr>
          <p:cNvPr id="13" name="chip CONFLICT"/>
          <p:cNvSpPr txBox="1"/>
          <p:nvPr/>
        </p:nvSpPr>
        <p:spPr>
          <a:xfrm>
            <a:off x="777240" y="5495544"/>
            <a:ext cx="1691640" cy="310896"/>
          </a:xfrm>
          <a:prstGeom prst="roundRect">
            <a:avLst>
              <a:gd name="adj" fmla="val 50000"/>
            </a:avLst>
          </a:prstGeom>
          <a:solidFill>
            <a:srgbClr val="F26B5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CONFLICT</a:t>
            </a:r>
            <a:endParaRPr lang="en-US" sz="1100" dirty="0"/>
          </a:p>
        </p:txBody>
      </p:sp>
      <p:sp>
        <p:nvSpPr>
          <p:cNvPr id="14" name="Text 12"/>
          <p:cNvSpPr txBox="1"/>
          <p:nvPr/>
        </p:nvSpPr>
        <p:spPr>
          <a:xfrm>
            <a:off x="2651760" y="5285232"/>
            <a:ext cx="3429000" cy="731520"/>
          </a:xfrm>
          <a:prstGeom prst="rect">
            <a:avLst/>
          </a:prstGeom>
          <a:noFill/>
          <a:ln/>
        </p:spPr>
        <p:txBody>
          <a:bodyPr wrap="square" lIns="0" tIns="0" rIns="0" bIns="0" rtlCol="0" anchor="ctr"/>
          <a:lstStyle/>
          <a:p>
            <a:pPr indent="0" marL="0">
              <a:buNone/>
            </a:pPr>
            <a:r>
              <a:rPr lang="en-US" sz="1400" dirty="0">
                <a:solidFill>
                  <a:srgbClr val="10303A"/>
                </a:solidFill>
                <a:latin typeface="Calibri" pitchFamily="34" charset="0"/>
                <a:ea typeface="Calibri" pitchFamily="34" charset="-122"/>
                <a:cs typeface="Calibri" pitchFamily="34" charset="-120"/>
              </a:rPr>
              <a:t>Two sources give different values; both are shown, not merged.</a:t>
            </a:r>
            <a:endParaRPr lang="en-US" sz="1400" dirty="0"/>
          </a:p>
        </p:txBody>
      </p:sp>
      <p:sp>
        <p:nvSpPr>
          <p:cNvPr id="15" name="Text 13"/>
          <p:cNvSpPr txBox="1"/>
          <p:nvPr/>
        </p:nvSpPr>
        <p:spPr>
          <a:xfrm>
            <a:off x="6675120" y="1371600"/>
            <a:ext cx="4937760" cy="411480"/>
          </a:xfrm>
          <a:prstGeom prst="rect">
            <a:avLst/>
          </a:prstGeom>
          <a:noFill/>
          <a:ln/>
        </p:spPr>
        <p:txBody>
          <a:bodyPr wrap="square" lIns="0" tIns="0" rIns="0" bIns="0" rtlCol="0" anchor="t"/>
          <a:lstStyle/>
          <a:p>
            <a:pPr indent="0" marL="0">
              <a:buNone/>
            </a:pPr>
            <a:r>
              <a:rPr lang="en-US" sz="2000" b="1" dirty="0">
                <a:solidFill>
                  <a:srgbClr val="10303A"/>
                </a:solidFill>
                <a:latin typeface="Cambria" pitchFamily="34" charset="0"/>
                <a:ea typeface="Cambria" pitchFamily="34" charset="-122"/>
                <a:cs typeface="Cambria" pitchFamily="34" charset="-120"/>
              </a:rPr>
              <a:t>Every claim must pass four checks</a:t>
            </a:r>
            <a:endParaRPr lang="en-US" sz="2000" dirty="0"/>
          </a:p>
        </p:txBody>
      </p:sp>
      <p:sp>
        <p:nvSpPr>
          <p:cNvPr id="16" name="Citations are real badge"/>
          <p:cNvSpPr/>
          <p:nvPr/>
        </p:nvSpPr>
        <p:spPr>
          <a:xfrm>
            <a:off x="6675120" y="1920240"/>
            <a:ext cx="640080" cy="640080"/>
          </a:xfrm>
          <a:prstGeom prst="ellipse">
            <a:avLst/>
          </a:prstGeom>
          <a:solidFill>
            <a:srgbClr val="B9A7EE"/>
          </a:solidFill>
          <a:ln w="12700">
            <a:solidFill>
              <a:srgbClr val="B9A7EE"/>
            </a:solidFill>
            <a:prstDash val="solid"/>
          </a:ln>
        </p:spPr>
      </p:sp>
      <p:pic>
        <p:nvPicPr>
          <p:cNvPr id="17" name="Citations are real" descr="Citations are real">    </p:cNvPr>
          <p:cNvPicPr>
            <a:picLocks noChangeAspect="1"/>
          </p:cNvPicPr>
          <p:nvPr/>
        </p:nvPicPr>
        <p:blipFill>
          <a:blip r:embed="rId1"/>
          <a:stretch>
            <a:fillRect/>
          </a:stretch>
        </p:blipFill>
        <p:spPr>
          <a:xfrm>
            <a:off x="6835140" y="2080260"/>
            <a:ext cx="320040" cy="320040"/>
          </a:xfrm>
          <a:prstGeom prst="rect">
            <a:avLst/>
          </a:prstGeom>
        </p:spPr>
      </p:pic>
      <p:sp>
        <p:nvSpPr>
          <p:cNvPr id="18" name="Text 15"/>
          <p:cNvSpPr txBox="1"/>
          <p:nvPr/>
        </p:nvSpPr>
        <p:spPr>
          <a:xfrm>
            <a:off x="7498080" y="1901952"/>
            <a:ext cx="4114800" cy="329184"/>
          </a:xfrm>
          <a:prstGeom prst="rect">
            <a:avLst/>
          </a:prstGeom>
          <a:noFill/>
          <a:ln/>
        </p:spPr>
        <p:txBody>
          <a:bodyPr wrap="square" lIns="0" tIns="0" rIns="0" bIns="0" rtlCol="0" anchor="t"/>
          <a:lstStyle/>
          <a:p>
            <a:pPr indent="0" marL="0">
              <a:buNone/>
            </a:pPr>
            <a:r>
              <a:rPr lang="en-US" sz="1800" b="1" dirty="0">
                <a:solidFill>
                  <a:srgbClr val="10303A"/>
                </a:solidFill>
                <a:latin typeface="Cambria" pitchFamily="34" charset="0"/>
                <a:ea typeface="Cambria" pitchFamily="34" charset="-122"/>
                <a:cs typeface="Cambria" pitchFamily="34" charset="-120"/>
              </a:rPr>
              <a:t>Citations are real</a:t>
            </a:r>
            <a:endParaRPr lang="en-US" sz="1800" dirty="0"/>
          </a:p>
        </p:txBody>
      </p:sp>
      <p:sp>
        <p:nvSpPr>
          <p:cNvPr id="19" name="Text 16"/>
          <p:cNvSpPr txBox="1"/>
          <p:nvPr/>
        </p:nvSpPr>
        <p:spPr>
          <a:xfrm>
            <a:off x="7498080" y="2249424"/>
            <a:ext cx="4114800" cy="502920"/>
          </a:xfrm>
          <a:prstGeom prst="rect">
            <a:avLst/>
          </a:prstGeom>
          <a:noFill/>
          <a:ln/>
        </p:spPr>
        <p:txBody>
          <a:bodyPr wrap="square" lIns="0" tIns="0" rIns="0" bIns="0" rtlCol="0" anchor="t"/>
          <a:lstStyle/>
          <a:p>
            <a:pPr indent="0" marL="0">
              <a:buNone/>
            </a:pPr>
            <a:r>
              <a:rPr lang="en-US" sz="1400" dirty="0">
                <a:solidFill>
                  <a:srgbClr val="5C7378"/>
                </a:solidFill>
                <a:latin typeface="Calibri" pitchFamily="34" charset="0"/>
                <a:ea typeface="Calibri" pitchFamily="34" charset="-122"/>
                <a:cs typeface="Calibri" pitchFamily="34" charset="-120"/>
              </a:rPr>
              <a:t>Cited passage numbers exist in what was retrieved</a:t>
            </a:r>
            <a:endParaRPr lang="en-US" sz="1400" dirty="0"/>
          </a:p>
        </p:txBody>
      </p:sp>
      <p:sp>
        <p:nvSpPr>
          <p:cNvPr id="20" name="Numbers match badge"/>
          <p:cNvSpPr/>
          <p:nvPr/>
        </p:nvSpPr>
        <p:spPr>
          <a:xfrm>
            <a:off x="6675120" y="2880360"/>
            <a:ext cx="640080" cy="640080"/>
          </a:xfrm>
          <a:prstGeom prst="ellipse">
            <a:avLst/>
          </a:prstGeom>
          <a:solidFill>
            <a:srgbClr val="F4C95D"/>
          </a:solidFill>
          <a:ln w="12700">
            <a:solidFill>
              <a:srgbClr val="F4C95D"/>
            </a:solidFill>
            <a:prstDash val="solid"/>
          </a:ln>
        </p:spPr>
      </p:sp>
      <p:pic>
        <p:nvPicPr>
          <p:cNvPr id="21" name="Numbers match" descr="Numbers match">    </p:cNvPr>
          <p:cNvPicPr>
            <a:picLocks noChangeAspect="1"/>
          </p:cNvPicPr>
          <p:nvPr/>
        </p:nvPicPr>
        <p:blipFill>
          <a:blip r:embed="rId2"/>
          <a:stretch>
            <a:fillRect/>
          </a:stretch>
        </p:blipFill>
        <p:spPr>
          <a:xfrm>
            <a:off x="6835140" y="3040380"/>
            <a:ext cx="320040" cy="320040"/>
          </a:xfrm>
          <a:prstGeom prst="rect">
            <a:avLst/>
          </a:prstGeom>
        </p:spPr>
      </p:pic>
      <p:sp>
        <p:nvSpPr>
          <p:cNvPr id="22" name="Text 18"/>
          <p:cNvSpPr txBox="1"/>
          <p:nvPr/>
        </p:nvSpPr>
        <p:spPr>
          <a:xfrm>
            <a:off x="7498080" y="2862072"/>
            <a:ext cx="4114800" cy="329184"/>
          </a:xfrm>
          <a:prstGeom prst="rect">
            <a:avLst/>
          </a:prstGeom>
          <a:noFill/>
          <a:ln/>
        </p:spPr>
        <p:txBody>
          <a:bodyPr wrap="square" lIns="0" tIns="0" rIns="0" bIns="0" rtlCol="0" anchor="t"/>
          <a:lstStyle/>
          <a:p>
            <a:pPr indent="0" marL="0">
              <a:buNone/>
            </a:pPr>
            <a:r>
              <a:rPr lang="en-US" sz="1800" b="1" dirty="0">
                <a:solidFill>
                  <a:srgbClr val="10303A"/>
                </a:solidFill>
                <a:latin typeface="Cambria" pitchFamily="34" charset="0"/>
                <a:ea typeface="Cambria" pitchFamily="34" charset="-122"/>
                <a:cs typeface="Cambria" pitchFamily="34" charset="-120"/>
              </a:rPr>
              <a:t>Numbers match</a:t>
            </a:r>
            <a:endParaRPr lang="en-US" sz="1800" dirty="0"/>
          </a:p>
        </p:txBody>
      </p:sp>
      <p:sp>
        <p:nvSpPr>
          <p:cNvPr id="23" name="Text 19"/>
          <p:cNvSpPr txBox="1"/>
          <p:nvPr/>
        </p:nvSpPr>
        <p:spPr>
          <a:xfrm>
            <a:off x="7498080" y="3209544"/>
            <a:ext cx="4114800" cy="502920"/>
          </a:xfrm>
          <a:prstGeom prst="rect">
            <a:avLst/>
          </a:prstGeom>
          <a:noFill/>
          <a:ln/>
        </p:spPr>
        <p:txBody>
          <a:bodyPr wrap="square" lIns="0" tIns="0" rIns="0" bIns="0" rtlCol="0" anchor="t"/>
          <a:lstStyle/>
          <a:p>
            <a:pPr indent="0" marL="0">
              <a:buNone/>
            </a:pPr>
            <a:r>
              <a:rPr lang="en-US" sz="1400" dirty="0">
                <a:solidFill>
                  <a:srgbClr val="5C7378"/>
                </a:solidFill>
                <a:latin typeface="Calibri" pitchFamily="34" charset="0"/>
                <a:ea typeface="Calibri" pitchFamily="34" charset="-122"/>
                <a:cs typeface="Calibri" pitchFamily="34" charset="-120"/>
              </a:rPr>
              <a:t>Every number appears in the cited passage</a:t>
            </a:r>
            <a:endParaRPr lang="en-US" sz="1400" dirty="0"/>
          </a:p>
        </p:txBody>
      </p:sp>
      <p:sp>
        <p:nvSpPr>
          <p:cNvPr id="24" name="Words are supported badge"/>
          <p:cNvSpPr/>
          <p:nvPr/>
        </p:nvSpPr>
        <p:spPr>
          <a:xfrm>
            <a:off x="6675120" y="3840480"/>
            <a:ext cx="640080" cy="640080"/>
          </a:xfrm>
          <a:prstGeom prst="ellipse">
            <a:avLst/>
          </a:prstGeom>
          <a:solidFill>
            <a:srgbClr val="2FA39B"/>
          </a:solidFill>
          <a:ln w="12700">
            <a:solidFill>
              <a:srgbClr val="2FA39B"/>
            </a:solidFill>
            <a:prstDash val="solid"/>
          </a:ln>
        </p:spPr>
      </p:sp>
      <p:pic>
        <p:nvPicPr>
          <p:cNvPr id="25" name="Words are supported" descr="Words are supported">    </p:cNvPr>
          <p:cNvPicPr>
            <a:picLocks noChangeAspect="1"/>
          </p:cNvPicPr>
          <p:nvPr/>
        </p:nvPicPr>
        <p:blipFill>
          <a:blip r:embed="rId3"/>
          <a:stretch>
            <a:fillRect/>
          </a:stretch>
        </p:blipFill>
        <p:spPr>
          <a:xfrm>
            <a:off x="6835140" y="4000500"/>
            <a:ext cx="320040" cy="320040"/>
          </a:xfrm>
          <a:prstGeom prst="rect">
            <a:avLst/>
          </a:prstGeom>
        </p:spPr>
      </p:pic>
      <p:sp>
        <p:nvSpPr>
          <p:cNvPr id="26" name="Text 21"/>
          <p:cNvSpPr txBox="1"/>
          <p:nvPr/>
        </p:nvSpPr>
        <p:spPr>
          <a:xfrm>
            <a:off x="7498080" y="3822192"/>
            <a:ext cx="4114800" cy="329184"/>
          </a:xfrm>
          <a:prstGeom prst="rect">
            <a:avLst/>
          </a:prstGeom>
          <a:noFill/>
          <a:ln/>
        </p:spPr>
        <p:txBody>
          <a:bodyPr wrap="square" lIns="0" tIns="0" rIns="0" bIns="0" rtlCol="0" anchor="t"/>
          <a:lstStyle/>
          <a:p>
            <a:pPr indent="0" marL="0">
              <a:buNone/>
            </a:pPr>
            <a:r>
              <a:rPr lang="en-US" sz="1800" b="1" dirty="0">
                <a:solidFill>
                  <a:srgbClr val="10303A"/>
                </a:solidFill>
                <a:latin typeface="Cambria" pitchFamily="34" charset="0"/>
                <a:ea typeface="Cambria" pitchFamily="34" charset="-122"/>
                <a:cs typeface="Cambria" pitchFamily="34" charset="-120"/>
              </a:rPr>
              <a:t>Words are supported</a:t>
            </a:r>
            <a:endParaRPr lang="en-US" sz="1800" dirty="0"/>
          </a:p>
        </p:txBody>
      </p:sp>
      <p:sp>
        <p:nvSpPr>
          <p:cNvPr id="27" name="Text 22"/>
          <p:cNvSpPr txBox="1"/>
          <p:nvPr/>
        </p:nvSpPr>
        <p:spPr>
          <a:xfrm>
            <a:off x="7498080" y="4169664"/>
            <a:ext cx="4114800" cy="502920"/>
          </a:xfrm>
          <a:prstGeom prst="rect">
            <a:avLst/>
          </a:prstGeom>
          <a:noFill/>
          <a:ln/>
        </p:spPr>
        <p:txBody>
          <a:bodyPr wrap="square" lIns="0" tIns="0" rIns="0" bIns="0" rtlCol="0" anchor="t"/>
          <a:lstStyle/>
          <a:p>
            <a:pPr indent="0" marL="0">
              <a:buNone/>
            </a:pPr>
            <a:r>
              <a:rPr lang="en-US" sz="1400" dirty="0">
                <a:solidFill>
                  <a:srgbClr val="5C7378"/>
                </a:solidFill>
                <a:latin typeface="Calibri" pitchFamily="34" charset="0"/>
                <a:ea typeface="Calibri" pitchFamily="34" charset="-122"/>
                <a:cs typeface="Calibri" pitchFamily="34" charset="-120"/>
              </a:rPr>
              <a:t>Content words trace back to the cited text or source name</a:t>
            </a:r>
            <a:endParaRPr lang="en-US" sz="1400" dirty="0"/>
          </a:p>
        </p:txBody>
      </p:sp>
      <p:sp>
        <p:nvSpPr>
          <p:cNvPr id="28" name="Quotes are verbatim badge"/>
          <p:cNvSpPr/>
          <p:nvPr/>
        </p:nvSpPr>
        <p:spPr>
          <a:xfrm>
            <a:off x="6675120" y="4800600"/>
            <a:ext cx="640080" cy="640080"/>
          </a:xfrm>
          <a:prstGeom prst="ellipse">
            <a:avLst/>
          </a:prstGeom>
          <a:solidFill>
            <a:srgbClr val="F26B50"/>
          </a:solidFill>
          <a:ln w="12700">
            <a:solidFill>
              <a:srgbClr val="F26B50"/>
            </a:solidFill>
            <a:prstDash val="solid"/>
          </a:ln>
        </p:spPr>
      </p:sp>
      <p:pic>
        <p:nvPicPr>
          <p:cNvPr id="29" name="Quotes are verbatim" descr="Quotes are verbatim">    </p:cNvPr>
          <p:cNvPicPr>
            <a:picLocks noChangeAspect="1"/>
          </p:cNvPicPr>
          <p:nvPr/>
        </p:nvPicPr>
        <p:blipFill>
          <a:blip r:embed="rId4"/>
          <a:stretch>
            <a:fillRect/>
          </a:stretch>
        </p:blipFill>
        <p:spPr>
          <a:xfrm>
            <a:off x="6835140" y="4960620"/>
            <a:ext cx="320040" cy="320040"/>
          </a:xfrm>
          <a:prstGeom prst="rect">
            <a:avLst/>
          </a:prstGeom>
        </p:spPr>
      </p:pic>
      <p:sp>
        <p:nvSpPr>
          <p:cNvPr id="30" name="Text 24"/>
          <p:cNvSpPr txBox="1"/>
          <p:nvPr/>
        </p:nvSpPr>
        <p:spPr>
          <a:xfrm>
            <a:off x="7498080" y="4782312"/>
            <a:ext cx="4114800" cy="329184"/>
          </a:xfrm>
          <a:prstGeom prst="rect">
            <a:avLst/>
          </a:prstGeom>
          <a:noFill/>
          <a:ln/>
        </p:spPr>
        <p:txBody>
          <a:bodyPr wrap="square" lIns="0" tIns="0" rIns="0" bIns="0" rtlCol="0" anchor="t"/>
          <a:lstStyle/>
          <a:p>
            <a:pPr indent="0" marL="0">
              <a:buNone/>
            </a:pPr>
            <a:r>
              <a:rPr lang="en-US" sz="1800" b="1" dirty="0">
                <a:solidFill>
                  <a:srgbClr val="10303A"/>
                </a:solidFill>
                <a:latin typeface="Cambria" pitchFamily="34" charset="0"/>
                <a:ea typeface="Cambria" pitchFamily="34" charset="-122"/>
                <a:cs typeface="Cambria" pitchFamily="34" charset="-120"/>
              </a:rPr>
              <a:t>Quotes are verbatim</a:t>
            </a:r>
            <a:endParaRPr lang="en-US" sz="1800" dirty="0"/>
          </a:p>
        </p:txBody>
      </p:sp>
      <p:sp>
        <p:nvSpPr>
          <p:cNvPr id="31" name="Text 25"/>
          <p:cNvSpPr txBox="1"/>
          <p:nvPr/>
        </p:nvSpPr>
        <p:spPr>
          <a:xfrm>
            <a:off x="7498080" y="5129784"/>
            <a:ext cx="4114800" cy="502920"/>
          </a:xfrm>
          <a:prstGeom prst="rect">
            <a:avLst/>
          </a:prstGeom>
          <a:noFill/>
          <a:ln/>
        </p:spPr>
        <p:txBody>
          <a:bodyPr wrap="square" lIns="0" tIns="0" rIns="0" bIns="0" rtlCol="0" anchor="t"/>
          <a:lstStyle/>
          <a:p>
            <a:pPr indent="0" marL="0">
              <a:buNone/>
            </a:pPr>
            <a:r>
              <a:rPr lang="en-US" sz="1400" dirty="0">
                <a:solidFill>
                  <a:srgbClr val="5C7378"/>
                </a:solidFill>
                <a:latin typeface="Calibri" pitchFamily="34" charset="0"/>
                <a:ea typeface="Calibri" pitchFamily="34" charset="-122"/>
                <a:cs typeface="Calibri" pitchFamily="34" charset="-120"/>
              </a:rPr>
              <a:t>Quoted text is matched character for character</a:t>
            </a:r>
            <a:endParaRPr lang="en-US" sz="1400" dirty="0"/>
          </a:p>
        </p:txBody>
      </p:sp>
      <p:sp>
        <p:nvSpPr>
          <p:cNvPr id="32" name="usp takeaway"/>
          <p:cNvSpPr txBox="1"/>
          <p:nvPr/>
        </p:nvSpPr>
        <p:spPr>
          <a:xfrm>
            <a:off x="6675120" y="5760720"/>
            <a:ext cx="4983480" cy="457200"/>
          </a:xfrm>
          <a:prstGeom prst="roundRect">
            <a:avLst>
              <a:gd name="adj" fmla="val 50000"/>
            </a:avLst>
          </a:prstGeom>
          <a:solidFill>
            <a:srgbClr val="0E5A63"/>
          </a:solidFill>
          <a:ln/>
        </p:spPr>
        <p:txBody>
          <a:bodyPr wrap="square" lIns="635" tIns="635" rIns="635" bIns="635"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Unsupported prose cannot leak: the server renders the text.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C73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640080"/>
            <a:ext cx="5669280" cy="155448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Answers scientists can verify</a:t>
            </a:r>
            <a:endParaRPr lang="en-US" sz="4400" dirty="0"/>
          </a:p>
        </p:txBody>
      </p:sp>
      <p:pic>
        <p:nvPicPr>
          <p:cNvPr id="3" name="hero illustration" descr="Two scientists beside a shield with a check mark">    </p:cNvPr>
          <p:cNvPicPr>
            <a:picLocks noChangeAspect="1"/>
          </p:cNvPicPr>
          <p:nvPr/>
        </p:nvPicPr>
        <p:blipFill>
          <a:blip r:embed="rId1"/>
          <a:stretch>
            <a:fillRect/>
          </a:stretch>
        </p:blipFill>
        <p:spPr>
          <a:xfrm>
            <a:off x="6583680" y="822960"/>
            <a:ext cx="5303520" cy="4718304"/>
          </a:xfrm>
          <a:prstGeom prst="rect">
            <a:avLst/>
          </a:prstGeom>
        </p:spPr>
      </p:pic>
      <p:sp>
        <p:nvSpPr>
          <p:cNvPr id="4" name="take 1 badge"/>
          <p:cNvSpPr/>
          <p:nvPr/>
        </p:nvSpPr>
        <p:spPr>
          <a:xfrm>
            <a:off x="640080" y="2331720"/>
            <a:ext cx="566928" cy="566928"/>
          </a:xfrm>
          <a:prstGeom prst="ellipse">
            <a:avLst/>
          </a:prstGeom>
          <a:solidFill>
            <a:srgbClr val="BFE6D8"/>
          </a:solidFill>
          <a:ln w="12700">
            <a:solidFill>
              <a:srgbClr val="BFE6D8"/>
            </a:solidFill>
            <a:prstDash val="solid"/>
          </a:ln>
        </p:spPr>
      </p:sp>
      <p:pic>
        <p:nvPicPr>
          <p:cNvPr id="5" name="take 1" descr="take 1">    </p:cNvPr>
          <p:cNvPicPr>
            <a:picLocks noChangeAspect="1"/>
          </p:cNvPicPr>
          <p:nvPr/>
        </p:nvPicPr>
        <p:blipFill>
          <a:blip r:embed="rId2"/>
          <a:stretch>
            <a:fillRect/>
          </a:stretch>
        </p:blipFill>
        <p:spPr>
          <a:xfrm>
            <a:off x="781812" y="2473452"/>
            <a:ext cx="283464" cy="283464"/>
          </a:xfrm>
          <a:prstGeom prst="rect">
            <a:avLst/>
          </a:prstGeom>
        </p:spPr>
      </p:pic>
      <p:sp>
        <p:nvSpPr>
          <p:cNvPr id="6" name="Text 2"/>
          <p:cNvSpPr txBox="1"/>
          <p:nvPr/>
        </p:nvSpPr>
        <p:spPr>
          <a:xfrm>
            <a:off x="1417320" y="2295144"/>
            <a:ext cx="4754880" cy="6400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Approved documents stay the single source of truth, cited to document and page.</a:t>
            </a:r>
            <a:endParaRPr lang="en-US" sz="1600" dirty="0"/>
          </a:p>
        </p:txBody>
      </p:sp>
      <p:sp>
        <p:nvSpPr>
          <p:cNvPr id="7" name="take 2 badge"/>
          <p:cNvSpPr/>
          <p:nvPr/>
        </p:nvSpPr>
        <p:spPr>
          <a:xfrm>
            <a:off x="640080" y="3200400"/>
            <a:ext cx="566928" cy="566928"/>
          </a:xfrm>
          <a:prstGeom prst="ellipse">
            <a:avLst/>
          </a:prstGeom>
          <a:solidFill>
            <a:srgbClr val="BFE6D8"/>
          </a:solidFill>
          <a:ln w="12700">
            <a:solidFill>
              <a:srgbClr val="BFE6D8"/>
            </a:solidFill>
            <a:prstDash val="solid"/>
          </a:ln>
        </p:spPr>
      </p:sp>
      <p:pic>
        <p:nvPicPr>
          <p:cNvPr id="8" name="take 2" descr="take 2">    </p:cNvPr>
          <p:cNvPicPr>
            <a:picLocks noChangeAspect="1"/>
          </p:cNvPicPr>
          <p:nvPr/>
        </p:nvPicPr>
        <p:blipFill>
          <a:blip r:embed="rId3"/>
          <a:stretch>
            <a:fillRect/>
          </a:stretch>
        </p:blipFill>
        <p:spPr>
          <a:xfrm>
            <a:off x="781812" y="3342132"/>
            <a:ext cx="283464" cy="283464"/>
          </a:xfrm>
          <a:prstGeom prst="rect">
            <a:avLst/>
          </a:prstGeom>
        </p:spPr>
      </p:pic>
      <p:sp>
        <p:nvSpPr>
          <p:cNvPr id="9" name="Text 4"/>
          <p:cNvSpPr txBox="1"/>
          <p:nvPr/>
        </p:nvSpPr>
        <p:spPr>
          <a:xfrm>
            <a:off x="1417320" y="3163824"/>
            <a:ext cx="4754880" cy="6400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Self-RAG validation: an honest “insufficient” beats a confident guess.</a:t>
            </a:r>
            <a:endParaRPr lang="en-US" sz="1600" dirty="0"/>
          </a:p>
        </p:txBody>
      </p:sp>
      <p:sp>
        <p:nvSpPr>
          <p:cNvPr id="10" name="take 3 badge"/>
          <p:cNvSpPr/>
          <p:nvPr/>
        </p:nvSpPr>
        <p:spPr>
          <a:xfrm>
            <a:off x="640080" y="4069080"/>
            <a:ext cx="566928" cy="566928"/>
          </a:xfrm>
          <a:prstGeom prst="ellipse">
            <a:avLst/>
          </a:prstGeom>
          <a:solidFill>
            <a:srgbClr val="BFE6D8"/>
          </a:solidFill>
          <a:ln w="12700">
            <a:solidFill>
              <a:srgbClr val="BFE6D8"/>
            </a:solidFill>
            <a:prstDash val="solid"/>
          </a:ln>
        </p:spPr>
      </p:sp>
      <p:pic>
        <p:nvPicPr>
          <p:cNvPr id="11" name="take 3" descr="take 3">    </p:cNvPr>
          <p:cNvPicPr>
            <a:picLocks noChangeAspect="1"/>
          </p:cNvPicPr>
          <p:nvPr/>
        </p:nvPicPr>
        <p:blipFill>
          <a:blip r:embed="rId4"/>
          <a:stretch>
            <a:fillRect/>
          </a:stretch>
        </p:blipFill>
        <p:spPr>
          <a:xfrm>
            <a:off x="781812" y="4210812"/>
            <a:ext cx="283464" cy="283464"/>
          </a:xfrm>
          <a:prstGeom prst="rect">
            <a:avLst/>
          </a:prstGeom>
        </p:spPr>
      </p:pic>
      <p:sp>
        <p:nvSpPr>
          <p:cNvPr id="12" name="Text 6"/>
          <p:cNvSpPr txBox="1"/>
          <p:nvPr/>
        </p:nvSpPr>
        <p:spPr>
          <a:xfrm>
            <a:off x="1417320" y="4032504"/>
            <a:ext cx="4754880" cy="6400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One platform: SOP Q&amp;A, project assistant, inventory requests and a tamper-evident audit.</a:t>
            </a:r>
            <a:endParaRPr lang="en-US" sz="1600" dirty="0"/>
          </a:p>
        </p:txBody>
      </p:sp>
      <p:sp>
        <p:nvSpPr>
          <p:cNvPr id="13" name="stat backend tests"/>
          <p:cNvSpPr/>
          <p:nvPr/>
        </p:nvSpPr>
        <p:spPr>
          <a:xfrm>
            <a:off x="640080" y="5029200"/>
            <a:ext cx="1691640" cy="914400"/>
          </a:xfrm>
          <a:prstGeom prst="roundRect">
            <a:avLst>
              <a:gd name="adj" fmla="val 15000"/>
            </a:avLst>
          </a:prstGeom>
          <a:solidFill>
            <a:srgbClr val="166E78"/>
          </a:solidFill>
          <a:ln w="12700">
            <a:solidFill>
              <a:srgbClr val="166E78"/>
            </a:solidFill>
            <a:prstDash val="solid"/>
          </a:ln>
        </p:spPr>
      </p:sp>
      <p:sp>
        <p:nvSpPr>
          <p:cNvPr id="14" name="Text 8"/>
          <p:cNvSpPr txBox="1"/>
          <p:nvPr/>
        </p:nvSpPr>
        <p:spPr>
          <a:xfrm>
            <a:off x="640080" y="5047488"/>
            <a:ext cx="1691640" cy="548640"/>
          </a:xfrm>
          <a:prstGeom prst="rect">
            <a:avLst/>
          </a:prstGeom>
          <a:noFill/>
          <a:ln/>
        </p:spPr>
        <p:txBody>
          <a:bodyPr wrap="square" lIns="0" tIns="0" rIns="0" bIns="0" rtlCol="0" anchor="ctr"/>
          <a:lstStyle/>
          <a:p>
            <a:pPr algn="ctr" indent="0" marL="0">
              <a:buNone/>
            </a:pPr>
            <a:r>
              <a:rPr lang="en-US" sz="3600" b="1" dirty="0">
                <a:solidFill>
                  <a:srgbClr val="F4C95D"/>
                </a:solidFill>
                <a:latin typeface="Cambria" pitchFamily="34" charset="0"/>
                <a:ea typeface="Cambria" pitchFamily="34" charset="-122"/>
                <a:cs typeface="Cambria" pitchFamily="34" charset="-120"/>
              </a:rPr>
              <a:t>93</a:t>
            </a:r>
            <a:endParaRPr lang="en-US" sz="3600" dirty="0"/>
          </a:p>
        </p:txBody>
      </p:sp>
      <p:sp>
        <p:nvSpPr>
          <p:cNvPr id="15" name="Text 9"/>
          <p:cNvSpPr txBox="1"/>
          <p:nvPr/>
        </p:nvSpPr>
        <p:spPr>
          <a:xfrm>
            <a:off x="640080" y="5577840"/>
            <a:ext cx="1691640" cy="274320"/>
          </a:xfrm>
          <a:prstGeom prst="rect">
            <a:avLst/>
          </a:prstGeom>
          <a:noFill/>
          <a:ln/>
        </p:spPr>
        <p:txBody>
          <a:bodyPr wrap="square" lIns="0" tIns="0" rIns="0" bIns="0" rtlCol="0" anchor="t"/>
          <a:lstStyle/>
          <a:p>
            <a:pPr algn="ctr" indent="0" marL="0">
              <a:buNone/>
            </a:pPr>
            <a:r>
              <a:rPr lang="en-US" sz="1300" dirty="0">
                <a:solidFill>
                  <a:srgbClr val="BFE6D8"/>
                </a:solidFill>
                <a:latin typeface="Calibri" pitchFamily="34" charset="0"/>
                <a:ea typeface="Calibri" pitchFamily="34" charset="-122"/>
                <a:cs typeface="Calibri" pitchFamily="34" charset="-120"/>
              </a:rPr>
              <a:t>backend tests</a:t>
            </a:r>
            <a:endParaRPr lang="en-US" sz="1300" dirty="0"/>
          </a:p>
        </p:txBody>
      </p:sp>
      <p:sp>
        <p:nvSpPr>
          <p:cNvPr id="16" name="stat validator checks"/>
          <p:cNvSpPr/>
          <p:nvPr/>
        </p:nvSpPr>
        <p:spPr>
          <a:xfrm>
            <a:off x="2514600" y="5029200"/>
            <a:ext cx="1691640" cy="914400"/>
          </a:xfrm>
          <a:prstGeom prst="roundRect">
            <a:avLst>
              <a:gd name="adj" fmla="val 15000"/>
            </a:avLst>
          </a:prstGeom>
          <a:solidFill>
            <a:srgbClr val="166E78"/>
          </a:solidFill>
          <a:ln w="12700">
            <a:solidFill>
              <a:srgbClr val="166E78"/>
            </a:solidFill>
            <a:prstDash val="solid"/>
          </a:ln>
        </p:spPr>
      </p:sp>
      <p:sp>
        <p:nvSpPr>
          <p:cNvPr id="17" name="Text 11"/>
          <p:cNvSpPr txBox="1"/>
          <p:nvPr/>
        </p:nvSpPr>
        <p:spPr>
          <a:xfrm>
            <a:off x="2514600" y="5047488"/>
            <a:ext cx="1691640" cy="548640"/>
          </a:xfrm>
          <a:prstGeom prst="rect">
            <a:avLst/>
          </a:prstGeom>
          <a:noFill/>
          <a:ln/>
        </p:spPr>
        <p:txBody>
          <a:bodyPr wrap="square" lIns="0" tIns="0" rIns="0" bIns="0" rtlCol="0" anchor="ctr"/>
          <a:lstStyle/>
          <a:p>
            <a:pPr algn="ctr" indent="0" marL="0">
              <a:buNone/>
            </a:pPr>
            <a:r>
              <a:rPr lang="en-US" sz="3600" b="1" dirty="0">
                <a:solidFill>
                  <a:srgbClr val="F4C95D"/>
                </a:solidFill>
                <a:latin typeface="Cambria" pitchFamily="34" charset="0"/>
                <a:ea typeface="Cambria" pitchFamily="34" charset="-122"/>
                <a:cs typeface="Cambria" pitchFamily="34" charset="-120"/>
              </a:rPr>
              <a:t>4</a:t>
            </a:r>
            <a:endParaRPr lang="en-US" sz="3600" dirty="0"/>
          </a:p>
        </p:txBody>
      </p:sp>
      <p:sp>
        <p:nvSpPr>
          <p:cNvPr id="18" name="Text 12"/>
          <p:cNvSpPr txBox="1"/>
          <p:nvPr/>
        </p:nvSpPr>
        <p:spPr>
          <a:xfrm>
            <a:off x="2514600" y="5577840"/>
            <a:ext cx="1691640" cy="274320"/>
          </a:xfrm>
          <a:prstGeom prst="rect">
            <a:avLst/>
          </a:prstGeom>
          <a:noFill/>
          <a:ln/>
        </p:spPr>
        <p:txBody>
          <a:bodyPr wrap="square" lIns="0" tIns="0" rIns="0" bIns="0" rtlCol="0" anchor="t"/>
          <a:lstStyle/>
          <a:p>
            <a:pPr algn="ctr" indent="0" marL="0">
              <a:buNone/>
            </a:pPr>
            <a:r>
              <a:rPr lang="en-US" sz="1300" dirty="0">
                <a:solidFill>
                  <a:srgbClr val="BFE6D8"/>
                </a:solidFill>
                <a:latin typeface="Calibri" pitchFamily="34" charset="0"/>
                <a:ea typeface="Calibri" pitchFamily="34" charset="-122"/>
                <a:cs typeface="Calibri" pitchFamily="34" charset="-120"/>
              </a:rPr>
              <a:t>validator checks</a:t>
            </a:r>
            <a:endParaRPr lang="en-US" sz="1300" dirty="0"/>
          </a:p>
        </p:txBody>
      </p:sp>
      <p:sp>
        <p:nvSpPr>
          <p:cNvPr id="19" name="stat user roles"/>
          <p:cNvSpPr/>
          <p:nvPr/>
        </p:nvSpPr>
        <p:spPr>
          <a:xfrm>
            <a:off x="4389120" y="5029200"/>
            <a:ext cx="1691640" cy="914400"/>
          </a:xfrm>
          <a:prstGeom prst="roundRect">
            <a:avLst>
              <a:gd name="adj" fmla="val 15000"/>
            </a:avLst>
          </a:prstGeom>
          <a:solidFill>
            <a:srgbClr val="166E78"/>
          </a:solidFill>
          <a:ln w="12700">
            <a:solidFill>
              <a:srgbClr val="166E78"/>
            </a:solidFill>
            <a:prstDash val="solid"/>
          </a:ln>
        </p:spPr>
      </p:sp>
      <p:sp>
        <p:nvSpPr>
          <p:cNvPr id="20" name="Text 14"/>
          <p:cNvSpPr txBox="1"/>
          <p:nvPr/>
        </p:nvSpPr>
        <p:spPr>
          <a:xfrm>
            <a:off x="4389120" y="5047488"/>
            <a:ext cx="1691640" cy="548640"/>
          </a:xfrm>
          <a:prstGeom prst="rect">
            <a:avLst/>
          </a:prstGeom>
          <a:noFill/>
          <a:ln/>
        </p:spPr>
        <p:txBody>
          <a:bodyPr wrap="square" lIns="0" tIns="0" rIns="0" bIns="0" rtlCol="0" anchor="ctr"/>
          <a:lstStyle/>
          <a:p>
            <a:pPr algn="ctr" indent="0" marL="0">
              <a:buNone/>
            </a:pPr>
            <a:r>
              <a:rPr lang="en-US" sz="3600" b="1" dirty="0">
                <a:solidFill>
                  <a:srgbClr val="F4C95D"/>
                </a:solidFill>
                <a:latin typeface="Cambria" pitchFamily="34" charset="0"/>
                <a:ea typeface="Cambria" pitchFamily="34" charset="-122"/>
                <a:cs typeface="Cambria" pitchFamily="34" charset="-120"/>
              </a:rPr>
              <a:t>4</a:t>
            </a:r>
            <a:endParaRPr lang="en-US" sz="3600" dirty="0"/>
          </a:p>
        </p:txBody>
      </p:sp>
      <p:sp>
        <p:nvSpPr>
          <p:cNvPr id="21" name="Text 15"/>
          <p:cNvSpPr txBox="1"/>
          <p:nvPr/>
        </p:nvSpPr>
        <p:spPr>
          <a:xfrm>
            <a:off x="4389120" y="5577840"/>
            <a:ext cx="1691640" cy="274320"/>
          </a:xfrm>
          <a:prstGeom prst="rect">
            <a:avLst/>
          </a:prstGeom>
          <a:noFill/>
          <a:ln/>
        </p:spPr>
        <p:txBody>
          <a:bodyPr wrap="square" lIns="0" tIns="0" rIns="0" bIns="0" rtlCol="0" anchor="t"/>
          <a:lstStyle/>
          <a:p>
            <a:pPr algn="ctr" indent="0" marL="0">
              <a:buNone/>
            </a:pPr>
            <a:r>
              <a:rPr lang="en-US" sz="1300" dirty="0">
                <a:solidFill>
                  <a:srgbClr val="BFE6D8"/>
                </a:solidFill>
                <a:latin typeface="Calibri" pitchFamily="34" charset="0"/>
                <a:ea typeface="Calibri" pitchFamily="34" charset="-122"/>
                <a:cs typeface="Calibri" pitchFamily="34" charset="-120"/>
              </a:rPr>
              <a:t>user roles</a:t>
            </a:r>
            <a:endParaRPr lang="en-US" sz="1300" dirty="0"/>
          </a:p>
        </p:txBody>
      </p:sp>
      <p:sp>
        <p:nvSpPr>
          <p:cNvPr id="22" name="Text 16"/>
          <p:cNvSpPr txBox="1"/>
          <p:nvPr/>
        </p:nvSpPr>
        <p:spPr>
          <a:xfrm>
            <a:off x="640080" y="6217920"/>
            <a:ext cx="10972800" cy="320040"/>
          </a:xfrm>
          <a:prstGeom prst="rect">
            <a:avLst/>
          </a:prstGeom>
          <a:noFill/>
          <a:ln/>
        </p:spPr>
        <p:txBody>
          <a:bodyPr wrap="square" lIns="0" tIns="0" rIns="0" bIns="0" rtlCol="0" anchor="t"/>
          <a:lstStyle/>
          <a:p>
            <a:pPr indent="0" marL="0">
              <a:buNone/>
            </a:pPr>
            <a:r>
              <a:rPr lang="en-US" sz="1400" dirty="0">
                <a:solidFill>
                  <a:srgbClr val="BFE6D8"/>
                </a:solidFill>
                <a:latin typeface="Calibri" pitchFamily="34" charset="0"/>
                <a:ea typeface="Calibri" pitchFamily="34" charset="-122"/>
                <a:cs typeface="Calibri" pitchFamily="34" charset="-120"/>
              </a:rPr>
              <a:t>Next: SSO and HTTPS · private no-training model · QA approval workflow · OCR for scanned pages</a:t>
            </a:r>
            <a:endParaRPr lang="en-US" sz="1400" dirty="0"/>
          </a:p>
        </p:txBody>
      </p:sp>
    </p:spTree>
  </p:cSld>
  <p:clrMapOvr>
    <a:masterClrMapping/>
  </p:clrMapOvr>
</p:sld>
</file>

<file path=ppt/theme/theme1.xml><?xml version="1.0" encoding="utf-8"?>
<a:theme xmlns:a="http://schemas.openxmlformats.org/drawingml/2006/main" name="Smart Lab">
  <a:themeElements>
    <a:clrScheme name="Smart Lab">
      <a:dk1>
        <a:srgbClr val="10303A"/>
      </a:dk1>
      <a:lt1>
        <a:srgbClr val="FFFFFF"/>
      </a:lt1>
      <a:dk2>
        <a:srgbClr val="0E5A63"/>
      </a:dk2>
      <a:lt2>
        <a:srgbClr val="E8F5F0"/>
      </a:lt2>
      <a:accent1>
        <a:srgbClr val="1D8A8A"/>
      </a:accent1>
      <a:accent2>
        <a:srgbClr val="F26B50"/>
      </a:accent2>
      <a:accent3>
        <a:srgbClr val="F4C95D"/>
      </a:accent3>
      <a:accent4>
        <a:srgbClr val="B9A7EE"/>
      </a:accent4>
      <a:accent5>
        <a:srgbClr val="2FA39B"/>
      </a:accent5>
      <a:accent6>
        <a:srgbClr val="BFE6D8"/>
      </a:accent6>
      <a:hlink>
        <a:srgbClr val="1D8A8A"/>
      </a:hlink>
      <a:folHlink>
        <a:srgbClr val="B9A7EE"/>
      </a:folHlink>
    </a:clrScheme>
    <a:fontScheme name="Smart La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Lab Assistant</dc:title>
  <dc:subject>PptxGenJS Presentation</dc:subject>
  <dc:creator>Smart Lab Assistant team</dc:creator>
  <cp:lastModifiedBy>Smart Lab Assistant team</cp:lastModifiedBy>
  <cp:revision>1</cp:revision>
  <dcterms:created xsi:type="dcterms:W3CDTF">2026-10-13T09:26:04Z</dcterms:created>
  <dcterms:modified xsi:type="dcterms:W3CDTF">2026-10-13T09:26:04Z</dcterms:modified>
</cp:coreProperties>
</file>